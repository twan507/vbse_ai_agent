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3" r:id="rId7"/>
    <p:sldId id="264" r:id="rId8"/>
    <p:sldId id="265" r:id="rId9"/>
    <p:sldId id="26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784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E"/>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3D6E"/>
          </a:solidFill>
          <a:ln/>
        </p:spPr>
        <p:txBody>
          <a:bodyPr/>
          <a:lstStyle/>
          <a:p>
            <a:endParaRPr lang="en-US"/>
          </a:p>
        </p:txBody>
      </p:sp>
      <p:sp>
        <p:nvSpPr>
          <p:cNvPr id="4" name="Text 2"/>
          <p:cNvSpPr/>
          <p:nvPr/>
        </p:nvSpPr>
        <p:spPr>
          <a:xfrm>
            <a:off x="548640" y="2286000"/>
            <a:ext cx="11064240" cy="1280160"/>
          </a:xfrm>
          <a:prstGeom prst="rect">
            <a:avLst/>
          </a:prstGeom>
          <a:noFill/>
          <a:ln/>
        </p:spPr>
        <p:txBody>
          <a:bodyPr wrap="square" lIns="0" tIns="0" rIns="0" bIns="0" rtlCol="0" anchor="ctr"/>
          <a:lstStyle/>
          <a:p>
            <a:pPr marL="0" indent="0">
              <a:buNone/>
            </a:pPr>
            <a:r>
              <a:rPr lang="en-US" sz="4000" b="1" dirty="0" err="1">
                <a:solidFill>
                  <a:srgbClr val="FFFFFF"/>
                </a:solidFill>
                <a:latin typeface="Calibri" pitchFamily="34" charset="0"/>
                <a:ea typeface="Calibri" pitchFamily="34" charset="-122"/>
                <a:cs typeface="Calibri" pitchFamily="34" charset="-120"/>
              </a:rPr>
              <a:t>Thống</a:t>
            </a:r>
            <a:r>
              <a:rPr lang="en-US" sz="4000" b="1" dirty="0">
                <a:solidFill>
                  <a:srgbClr val="FFFFFF"/>
                </a:solidFill>
                <a:latin typeface="Calibri" pitchFamily="34" charset="0"/>
                <a:ea typeface="Calibri" pitchFamily="34" charset="-122"/>
                <a:cs typeface="Calibri" pitchFamily="34" charset="-120"/>
              </a:rPr>
              <a:t> </a:t>
            </a:r>
            <a:r>
              <a:rPr lang="en-US" sz="4000" b="1" dirty="0" err="1">
                <a:solidFill>
                  <a:srgbClr val="FFFFFF"/>
                </a:solidFill>
                <a:latin typeface="Calibri" pitchFamily="34" charset="0"/>
                <a:ea typeface="Calibri" pitchFamily="34" charset="-122"/>
                <a:cs typeface="Calibri" pitchFamily="34" charset="-120"/>
              </a:rPr>
              <a:t>kê</a:t>
            </a:r>
            <a:r>
              <a:rPr lang="en-US" sz="4000" b="1" dirty="0">
                <a:solidFill>
                  <a:srgbClr val="FFFFFF"/>
                </a:solidFill>
                <a:latin typeface="Calibri" pitchFamily="34" charset="0"/>
                <a:ea typeface="Calibri" pitchFamily="34" charset="-122"/>
                <a:cs typeface="Calibri" pitchFamily="34" charset="-120"/>
              </a:rPr>
              <a:t> </a:t>
            </a:r>
            <a:r>
              <a:rPr lang="en-US" sz="4000" b="1" dirty="0" err="1">
                <a:solidFill>
                  <a:srgbClr val="FFFFFF"/>
                </a:solidFill>
                <a:latin typeface="Calibri" pitchFamily="34" charset="0"/>
                <a:ea typeface="Calibri" pitchFamily="34" charset="-122"/>
                <a:cs typeface="Calibri" pitchFamily="34" charset="-120"/>
              </a:rPr>
              <a:t>định</a:t>
            </a:r>
            <a:r>
              <a:rPr lang="en-US" sz="4000" b="1" dirty="0">
                <a:solidFill>
                  <a:srgbClr val="FFFFFF"/>
                </a:solidFill>
                <a:latin typeface="Calibri" pitchFamily="34" charset="0"/>
                <a:ea typeface="Calibri" pitchFamily="34" charset="-122"/>
                <a:cs typeface="Calibri" pitchFamily="34" charset="-120"/>
              </a:rPr>
              <a:t> giá thị trường chứng khoán Việt Nam</a:t>
            </a:r>
            <a:endParaRPr lang="en-US" sz="4000" dirty="0"/>
          </a:p>
        </p:txBody>
      </p:sp>
      <p:sp>
        <p:nvSpPr>
          <p:cNvPr id="5" name="Text 3"/>
          <p:cNvSpPr/>
          <p:nvPr/>
        </p:nvSpPr>
        <p:spPr>
          <a:xfrm>
            <a:off x="548640" y="3246120"/>
            <a:ext cx="9875520" cy="548640"/>
          </a:xfrm>
          <a:prstGeom prst="rect">
            <a:avLst/>
          </a:prstGeom>
          <a:noFill/>
          <a:ln/>
        </p:spPr>
        <p:txBody>
          <a:bodyPr wrap="square" lIns="0" tIns="0" rIns="0" bIns="0" rtlCol="0" anchor="ctr"/>
          <a:lstStyle/>
          <a:p>
            <a:pPr marL="0" indent="0">
              <a:buNone/>
            </a:pPr>
            <a:r>
              <a:rPr lang="en-US" sz="1700" dirty="0">
                <a:solidFill>
                  <a:srgbClr val="CADCFC"/>
                </a:solidFill>
                <a:latin typeface="Calibri" pitchFamily="34" charset="0"/>
                <a:ea typeface="Calibri" pitchFamily="34" charset="-122"/>
                <a:cs typeface="Calibri" pitchFamily="34" charset="-120"/>
              </a:rPr>
              <a:t>Thị trường đã về vùng đáy chu kỳ chưa — phân tích P/E, P/B và dòng tiền</a:t>
            </a:r>
            <a:endParaRPr lang="en-US" sz="1700" dirty="0"/>
          </a:p>
        </p:txBody>
      </p:sp>
      <p:sp>
        <p:nvSpPr>
          <p:cNvPr id="6" name="Text 4"/>
          <p:cNvSpPr/>
          <p:nvPr/>
        </p:nvSpPr>
        <p:spPr>
          <a:xfrm>
            <a:off x="548640" y="5394960"/>
            <a:ext cx="11064240" cy="1005840"/>
          </a:xfrm>
          <a:prstGeom prst="rect">
            <a:avLst/>
          </a:prstGeom>
          <a:noFill/>
          <a:ln/>
        </p:spPr>
        <p:txBody>
          <a:bodyPr wrap="square" lIns="0" tIns="0" rIns="0" bIns="0" rtlCol="0" anchor="ctr"/>
          <a:lstStyle/>
          <a:p>
            <a:pPr marL="0" indent="0">
              <a:lnSpc>
                <a:spcPct val="125000"/>
              </a:lnSpc>
              <a:buNone/>
            </a:pPr>
            <a:r>
              <a:rPr lang="en-US" sz="1250" dirty="0">
                <a:solidFill>
                  <a:srgbClr val="9DB4D4"/>
                </a:solidFill>
                <a:latin typeface="Calibri" pitchFamily="34" charset="0"/>
                <a:ea typeface="Calibri" pitchFamily="34" charset="-122"/>
                <a:cs typeface="Calibri" pitchFamily="34" charset="-120"/>
              </a:rPr>
              <a:t>Số liệu đến phiên 17/07/2026</a:t>
            </a:r>
            <a:endParaRPr lang="en-US" sz="1250" dirty="0"/>
          </a:p>
          <a:p>
            <a:pPr marL="0" indent="0">
              <a:lnSpc>
                <a:spcPct val="125000"/>
              </a:lnSpc>
              <a:buNone/>
            </a:pPr>
            <a:r>
              <a:rPr lang="en-US" sz="1250" dirty="0">
                <a:solidFill>
                  <a:srgbClr val="9DB4D4"/>
                </a:solidFill>
                <a:latin typeface="Calibri" pitchFamily="34" charset="0"/>
                <a:ea typeface="Calibri" pitchFamily="34" charset="-122"/>
                <a:cs typeface="Calibri" pitchFamily="34" charset="-120"/>
              </a:rPr>
              <a:t>Phạm vi: toàn thị trường </a:t>
            </a:r>
            <a:r>
              <a:rPr lang="en-US" sz="1250" dirty="0" err="1">
                <a:solidFill>
                  <a:srgbClr val="9DB4D4"/>
                </a:solidFill>
                <a:latin typeface="Calibri" pitchFamily="34" charset="0"/>
                <a:ea typeface="Calibri" pitchFamily="34" charset="-122"/>
                <a:cs typeface="Calibri" pitchFamily="34" charset="-120"/>
              </a:rPr>
              <a:t>và</a:t>
            </a:r>
            <a:r>
              <a:rPr lang="en-US" sz="1250" dirty="0">
                <a:solidFill>
                  <a:srgbClr val="9DB4D4"/>
                </a:solidFill>
                <a:latin typeface="Calibri" pitchFamily="34" charset="0"/>
                <a:ea typeface="Calibri" pitchFamily="34" charset="-122"/>
                <a:cs typeface="Calibri" pitchFamily="34" charset="-120"/>
              </a:rPr>
              <a:t> </a:t>
            </a:r>
            <a:r>
              <a:rPr lang="en-US" sz="1250" dirty="0" err="1">
                <a:solidFill>
                  <a:srgbClr val="9DB4D4"/>
                </a:solidFill>
                <a:latin typeface="Calibri" pitchFamily="34" charset="0"/>
                <a:ea typeface="Calibri" pitchFamily="34" charset="-122"/>
                <a:cs typeface="Calibri" pitchFamily="34" charset="-120"/>
              </a:rPr>
              <a:t>các</a:t>
            </a:r>
            <a:r>
              <a:rPr lang="en-US" sz="1250" dirty="0">
                <a:solidFill>
                  <a:srgbClr val="9DB4D4"/>
                </a:solidFill>
                <a:latin typeface="Calibri" pitchFamily="34" charset="0"/>
                <a:ea typeface="Calibri" pitchFamily="34" charset="-122"/>
                <a:cs typeface="Calibri" pitchFamily="34" charset="-120"/>
              </a:rPr>
              <a:t> ngành theo dõi</a:t>
            </a:r>
            <a:endParaRPr lang="en-US" sz="1250" dirty="0"/>
          </a:p>
          <a:p>
            <a:pPr marL="0" indent="0">
              <a:lnSpc>
                <a:spcPct val="125000"/>
              </a:lnSpc>
              <a:buNone/>
            </a:pPr>
            <a:r>
              <a:rPr lang="en-US" sz="1250" dirty="0">
                <a:solidFill>
                  <a:srgbClr val="9DB4D4"/>
                </a:solidFill>
                <a:latin typeface="Calibri" pitchFamily="34" charset="0"/>
                <a:ea typeface="Calibri" pitchFamily="34" charset="-122"/>
                <a:cs typeface="Calibri" pitchFamily="34" charset="-120"/>
              </a:rPr>
              <a:t>Lưu hành nội bộ VBSE</a:t>
            </a:r>
            <a:endParaRPr lang="en-US" sz="1250" dirty="0"/>
          </a:p>
        </p:txBody>
      </p:sp>
      <p:pic>
        <p:nvPicPr>
          <p:cNvPr id="9" name="Picture 8">
            <a:extLst>
              <a:ext uri="{FF2B5EF4-FFF2-40B4-BE49-F238E27FC236}">
                <a16:creationId xmlns:a16="http://schemas.microsoft.com/office/drawing/2014/main" id="{869DB90A-0FA2-A4A2-835C-1E9595D9725B}"/>
              </a:ext>
            </a:extLst>
          </p:cNvPr>
          <p:cNvPicPr>
            <a:picLocks noChangeAspect="1"/>
          </p:cNvPicPr>
          <p:nvPr/>
        </p:nvPicPr>
        <p:blipFill>
          <a:blip r:embed="rId3"/>
          <a:stretch>
            <a:fillRect/>
          </a:stretch>
        </p:blipFill>
        <p:spPr>
          <a:xfrm>
            <a:off x="-323316" y="0"/>
            <a:ext cx="4255081" cy="1847092"/>
          </a:xfrm>
          <a:prstGeom prst="rect">
            <a:avLst/>
          </a:prstGeom>
        </p:spPr>
      </p:pic>
      <p:sp>
        <p:nvSpPr>
          <p:cNvPr id="10" name="Rectangle: Rounded Corners 9">
            <a:extLst>
              <a:ext uri="{FF2B5EF4-FFF2-40B4-BE49-F238E27FC236}">
                <a16:creationId xmlns:a16="http://schemas.microsoft.com/office/drawing/2014/main" id="{EC3D3571-7754-B465-A892-4B61EFD7B318}"/>
              </a:ext>
            </a:extLst>
          </p:cNvPr>
          <p:cNvSpPr/>
          <p:nvPr/>
        </p:nvSpPr>
        <p:spPr>
          <a:xfrm>
            <a:off x="548640" y="3781912"/>
            <a:ext cx="3087189" cy="82518"/>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TÓM TẮT ĐIỀU HÀNH</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Những điểm chính</a:t>
            </a:r>
            <a:endParaRPr lang="en-US" sz="3000" dirty="0"/>
          </a:p>
        </p:txBody>
      </p:sp>
      <p:sp>
        <p:nvSpPr>
          <p:cNvPr id="4" name="Shape 2"/>
          <p:cNvSpPr/>
          <p:nvPr/>
        </p:nvSpPr>
        <p:spPr>
          <a:xfrm>
            <a:off x="548640" y="1435608"/>
            <a:ext cx="292608" cy="292608"/>
          </a:xfrm>
          <a:prstGeom prst="ellipse">
            <a:avLst/>
          </a:prstGeom>
          <a:solidFill>
            <a:srgbClr val="0E548F"/>
          </a:solidFill>
          <a:ln/>
        </p:spPr>
        <p:txBody>
          <a:bodyPr/>
          <a:lstStyle/>
          <a:p>
            <a:endParaRPr lang="en-US"/>
          </a:p>
        </p:txBody>
      </p:sp>
      <p:sp>
        <p:nvSpPr>
          <p:cNvPr id="5" name="Text 3"/>
          <p:cNvSpPr/>
          <p:nvPr/>
        </p:nvSpPr>
        <p:spPr>
          <a:xfrm>
            <a:off x="548640" y="143560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05840" y="1362456"/>
            <a:ext cx="10607040" cy="50292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Chỉ số tổng đánh lừa  </a:t>
            </a:r>
            <a:r>
              <a:rPr lang="en-US" sz="1300" dirty="0">
                <a:solidFill>
                  <a:srgbClr val="1A2733"/>
                </a:solidFill>
                <a:latin typeface="Calibri" pitchFamily="34" charset="0"/>
                <a:ea typeface="Calibri" pitchFamily="34" charset="-122"/>
                <a:cs typeface="Calibri" pitchFamily="34" charset="-120"/>
              </a:rPr>
              <a:t>Nhìn cả sàn thị trường có vẻ đắt, nhưng đó là do riêng VIC kéo lệch chỉ số tính theo vốn hóa.</a:t>
            </a:r>
            <a:endParaRPr lang="en-US" sz="1300" dirty="0"/>
          </a:p>
        </p:txBody>
      </p:sp>
      <p:sp>
        <p:nvSpPr>
          <p:cNvPr id="7" name="Shape 5"/>
          <p:cNvSpPr/>
          <p:nvPr/>
        </p:nvSpPr>
        <p:spPr>
          <a:xfrm>
            <a:off x="548640" y="2002536"/>
            <a:ext cx="292608" cy="292608"/>
          </a:xfrm>
          <a:prstGeom prst="ellipse">
            <a:avLst/>
          </a:prstGeom>
          <a:solidFill>
            <a:srgbClr val="0E548F"/>
          </a:solidFill>
          <a:ln/>
        </p:spPr>
        <p:txBody>
          <a:bodyPr/>
          <a:lstStyle/>
          <a:p>
            <a:endParaRPr lang="en-US"/>
          </a:p>
        </p:txBody>
      </p:sp>
      <p:sp>
        <p:nvSpPr>
          <p:cNvPr id="8" name="Text 6"/>
          <p:cNvSpPr/>
          <p:nvPr/>
        </p:nvSpPr>
        <p:spPr>
          <a:xfrm>
            <a:off x="548640" y="20025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05840" y="1929384"/>
            <a:ext cx="10607040" cy="50292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Loại Vingroup, thị trường rẻ  </a:t>
            </a:r>
            <a:r>
              <a:rPr lang="en-US" sz="1300" dirty="0">
                <a:solidFill>
                  <a:srgbClr val="1A2733"/>
                </a:solidFill>
                <a:latin typeface="Calibri" pitchFamily="34" charset="0"/>
                <a:ea typeface="Calibri" pitchFamily="34" charset="-122"/>
                <a:cs typeface="Calibri" pitchFamily="34" charset="-120"/>
              </a:rPr>
              <a:t>Bỏ nhóm Vingroup, P/B về 1,56 và P/E về 10,95, đều ở vùng thấp gần sát các đáy chu kỳ 2022 và 2025.</a:t>
            </a:r>
            <a:endParaRPr lang="en-US" sz="1300" dirty="0"/>
          </a:p>
        </p:txBody>
      </p:sp>
      <p:sp>
        <p:nvSpPr>
          <p:cNvPr id="10" name="Shape 8"/>
          <p:cNvSpPr/>
          <p:nvPr/>
        </p:nvSpPr>
        <p:spPr>
          <a:xfrm>
            <a:off x="548640" y="2569464"/>
            <a:ext cx="292608" cy="292608"/>
          </a:xfrm>
          <a:prstGeom prst="ellipse">
            <a:avLst/>
          </a:prstGeom>
          <a:solidFill>
            <a:srgbClr val="0E548F"/>
          </a:solidFill>
          <a:ln/>
        </p:spPr>
        <p:txBody>
          <a:bodyPr/>
          <a:lstStyle/>
          <a:p>
            <a:endParaRPr lang="en-US"/>
          </a:p>
        </p:txBody>
      </p:sp>
      <p:sp>
        <p:nvSpPr>
          <p:cNvPr id="11" name="Text 9"/>
          <p:cNvSpPr/>
          <p:nvPr/>
        </p:nvSpPr>
        <p:spPr>
          <a:xfrm>
            <a:off x="548640" y="25694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05840" y="2496312"/>
            <a:ext cx="10607040" cy="50292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Bất động sản nhà ở thực chất rẻ  </a:t>
            </a:r>
            <a:r>
              <a:rPr lang="en-US" sz="1300" dirty="0">
                <a:solidFill>
                  <a:srgbClr val="1A2733"/>
                </a:solidFill>
                <a:latin typeface="Calibri" pitchFamily="34" charset="0"/>
                <a:ea typeface="Calibri" pitchFamily="34" charset="-122"/>
                <a:cs typeface="Calibri" pitchFamily="34" charset="-120"/>
              </a:rPr>
              <a:t>Ngành tưởng đắt nhất sàn, bỏ ba trụ Vin thì phần còn lại bán dưới giá trị sổ sách.</a:t>
            </a:r>
            <a:endParaRPr lang="en-US" sz="1300" dirty="0"/>
          </a:p>
        </p:txBody>
      </p:sp>
      <p:sp>
        <p:nvSpPr>
          <p:cNvPr id="13" name="Shape 11"/>
          <p:cNvSpPr/>
          <p:nvPr/>
        </p:nvSpPr>
        <p:spPr>
          <a:xfrm>
            <a:off x="548640" y="3136392"/>
            <a:ext cx="292608" cy="292608"/>
          </a:xfrm>
          <a:prstGeom prst="ellipse">
            <a:avLst/>
          </a:prstGeom>
          <a:solidFill>
            <a:srgbClr val="E8B964"/>
          </a:solidFill>
          <a:ln/>
        </p:spPr>
        <p:txBody>
          <a:bodyPr/>
          <a:lstStyle/>
          <a:p>
            <a:endParaRPr lang="en-US"/>
          </a:p>
        </p:txBody>
      </p:sp>
      <p:sp>
        <p:nvSpPr>
          <p:cNvPr id="14" name="Text 12"/>
          <p:cNvSpPr/>
          <p:nvPr/>
        </p:nvSpPr>
        <p:spPr>
          <a:xfrm>
            <a:off x="548640" y="313639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005840" y="3063240"/>
            <a:ext cx="10607040" cy="50292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Cơ hội và bẫy tách bằng dòng tiền  </a:t>
            </a:r>
            <a:r>
              <a:rPr lang="en-US" sz="1300" dirty="0">
                <a:solidFill>
                  <a:srgbClr val="1A2733"/>
                </a:solidFill>
                <a:latin typeface="Calibri" pitchFamily="34" charset="0"/>
                <a:ea typeface="Calibri" pitchFamily="34" charset="-122"/>
                <a:cs typeface="Calibri" pitchFamily="34" charset="-120"/>
              </a:rPr>
              <a:t>Rẻ và có tiền vào: Xây dựng, Khu công nghiệp, Bất động sản nhà ở, Ngân hàng. Rẻ nhưng bị bán tháo: Dệt may, Thủy sản.</a:t>
            </a:r>
            <a:endParaRPr lang="en-US" sz="1300" dirty="0"/>
          </a:p>
        </p:txBody>
      </p:sp>
      <p:sp>
        <p:nvSpPr>
          <p:cNvPr id="16" name="Shape 14"/>
          <p:cNvSpPr/>
          <p:nvPr/>
        </p:nvSpPr>
        <p:spPr>
          <a:xfrm>
            <a:off x="548640" y="3703320"/>
            <a:ext cx="292608" cy="292608"/>
          </a:xfrm>
          <a:prstGeom prst="ellipse">
            <a:avLst/>
          </a:prstGeom>
          <a:solidFill>
            <a:srgbClr val="E8B964"/>
          </a:solidFill>
          <a:ln/>
        </p:spPr>
        <p:txBody>
          <a:bodyPr/>
          <a:lstStyle/>
          <a:p>
            <a:endParaRPr lang="en-US"/>
          </a:p>
        </p:txBody>
      </p:sp>
      <p:sp>
        <p:nvSpPr>
          <p:cNvPr id="17" name="Text 15"/>
          <p:cNvSpPr/>
          <p:nvPr/>
        </p:nvSpPr>
        <p:spPr>
          <a:xfrm>
            <a:off x="548640" y="3703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005840" y="3630168"/>
            <a:ext cx="10607040" cy="50292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Bối cảnh cần lưu ý  </a:t>
            </a:r>
            <a:r>
              <a:rPr lang="en-US" sz="1300" dirty="0">
                <a:solidFill>
                  <a:srgbClr val="1A2733"/>
                </a:solidFill>
                <a:latin typeface="Calibri" pitchFamily="34" charset="0"/>
                <a:ea typeface="Calibri" pitchFamily="34" charset="-122"/>
                <a:cs typeface="Calibri" pitchFamily="34" charset="-120"/>
              </a:rPr>
              <a:t>Khối ngoại bán ròng mạnh, tháng gần nhất rút 7.497 tỷ đồng, nên ưu tiên chọn lọc.</a:t>
            </a:r>
            <a:endParaRPr lang="en-US" sz="1300" dirty="0"/>
          </a:p>
        </p:txBody>
      </p:sp>
      <p:sp>
        <p:nvSpPr>
          <p:cNvPr id="19" name="Shape 17"/>
          <p:cNvSpPr/>
          <p:nvPr/>
        </p:nvSpPr>
        <p:spPr>
          <a:xfrm>
            <a:off x="548640" y="4892040"/>
            <a:ext cx="11064240" cy="1234440"/>
          </a:xfrm>
          <a:prstGeom prst="roundRect">
            <a:avLst>
              <a:gd name="adj" fmla="val 4444"/>
            </a:avLst>
          </a:prstGeom>
          <a:solidFill>
            <a:srgbClr val="EEF3F8"/>
          </a:solidFill>
          <a:ln/>
        </p:spPr>
        <p:txBody>
          <a:bodyPr/>
          <a:lstStyle/>
          <a:p>
            <a:endParaRPr lang="en-US"/>
          </a:p>
        </p:txBody>
      </p:sp>
      <p:sp>
        <p:nvSpPr>
          <p:cNvPr id="20" name="Text 18"/>
          <p:cNvSpPr/>
          <p:nvPr/>
        </p:nvSpPr>
        <p:spPr>
          <a:xfrm>
            <a:off x="822960" y="5056632"/>
            <a:ext cx="2446020" cy="457200"/>
          </a:xfrm>
          <a:prstGeom prst="rect">
            <a:avLst/>
          </a:prstGeom>
          <a:noFill/>
          <a:ln/>
        </p:spPr>
        <p:txBody>
          <a:bodyPr wrap="square" lIns="0" tIns="0" rIns="0" bIns="0" rtlCol="0" anchor="ctr"/>
          <a:lstStyle/>
          <a:p>
            <a:pPr marL="0" indent="0" algn="l">
              <a:buNone/>
            </a:pPr>
            <a:r>
              <a:rPr lang="en-US" sz="2400" b="1" dirty="0">
                <a:solidFill>
                  <a:srgbClr val="E8B964"/>
                </a:solidFill>
                <a:latin typeface="Calibri" pitchFamily="34" charset="0"/>
                <a:ea typeface="Calibri" pitchFamily="34" charset="-122"/>
                <a:cs typeface="Calibri" pitchFamily="34" charset="-120"/>
              </a:rPr>
              <a:t>1,92 → 1,56</a:t>
            </a:r>
            <a:endParaRPr lang="en-US" sz="2400" dirty="0"/>
          </a:p>
        </p:txBody>
      </p:sp>
      <p:sp>
        <p:nvSpPr>
          <p:cNvPr id="21" name="Text 19"/>
          <p:cNvSpPr/>
          <p:nvPr/>
        </p:nvSpPr>
        <p:spPr>
          <a:xfrm>
            <a:off x="822960" y="5550408"/>
            <a:ext cx="2446020" cy="502920"/>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P/B thị trường khi loại Vingroup</a:t>
            </a:r>
            <a:endParaRPr lang="en-US" sz="1050" dirty="0"/>
          </a:p>
        </p:txBody>
      </p:sp>
      <p:sp>
        <p:nvSpPr>
          <p:cNvPr id="22" name="Text 20"/>
          <p:cNvSpPr/>
          <p:nvPr/>
        </p:nvSpPr>
        <p:spPr>
          <a:xfrm>
            <a:off x="3451860" y="5056632"/>
            <a:ext cx="2446020" cy="457200"/>
          </a:xfrm>
          <a:prstGeom prst="rect">
            <a:avLst/>
          </a:prstGeom>
          <a:noFill/>
          <a:ln/>
        </p:spPr>
        <p:txBody>
          <a:bodyPr wrap="square" lIns="0" tIns="0" rIns="0" bIns="0" rtlCol="0" anchor="ctr"/>
          <a:lstStyle/>
          <a:p>
            <a:pPr marL="0" indent="0" algn="l">
              <a:buNone/>
            </a:pPr>
            <a:r>
              <a:rPr lang="en-US" sz="2400" b="1" dirty="0">
                <a:solidFill>
                  <a:srgbClr val="E8B964"/>
                </a:solidFill>
                <a:latin typeface="Calibri" pitchFamily="34" charset="0"/>
                <a:ea typeface="Calibri" pitchFamily="34" charset="-122"/>
                <a:cs typeface="Calibri" pitchFamily="34" charset="-120"/>
              </a:rPr>
              <a:t>0,86</a:t>
            </a:r>
            <a:endParaRPr lang="en-US" sz="2400" dirty="0"/>
          </a:p>
        </p:txBody>
      </p:sp>
      <p:sp>
        <p:nvSpPr>
          <p:cNvPr id="23" name="Text 21"/>
          <p:cNvSpPr/>
          <p:nvPr/>
        </p:nvSpPr>
        <p:spPr>
          <a:xfrm>
            <a:off x="3451860" y="5550408"/>
            <a:ext cx="2446020" cy="502920"/>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P/B ngành BĐS nhà ở (bỏ 3 trụ Vin), dưới giá sổ sách</a:t>
            </a:r>
            <a:endParaRPr lang="en-US" sz="1050" dirty="0"/>
          </a:p>
        </p:txBody>
      </p:sp>
      <p:sp>
        <p:nvSpPr>
          <p:cNvPr id="24" name="Text 22"/>
          <p:cNvSpPr/>
          <p:nvPr/>
        </p:nvSpPr>
        <p:spPr>
          <a:xfrm>
            <a:off x="6080760" y="5056632"/>
            <a:ext cx="2446020" cy="457200"/>
          </a:xfrm>
          <a:prstGeom prst="rect">
            <a:avLst/>
          </a:prstGeom>
          <a:noFill/>
          <a:ln/>
        </p:spPr>
        <p:txBody>
          <a:bodyPr wrap="square" lIns="0" tIns="0" rIns="0" bIns="0" rtlCol="0" anchor="ctr"/>
          <a:lstStyle/>
          <a:p>
            <a:pPr marL="0" indent="0" algn="l">
              <a:buNone/>
            </a:pPr>
            <a:r>
              <a:rPr lang="en-US" sz="2400" b="1" dirty="0">
                <a:solidFill>
                  <a:srgbClr val="D71249"/>
                </a:solidFill>
                <a:latin typeface="Calibri" pitchFamily="34" charset="0"/>
                <a:ea typeface="Calibri" pitchFamily="34" charset="-122"/>
                <a:cs typeface="Calibri" pitchFamily="34" charset="-120"/>
              </a:rPr>
              <a:t>11,11</a:t>
            </a:r>
            <a:endParaRPr lang="en-US" sz="2400" dirty="0"/>
          </a:p>
        </p:txBody>
      </p:sp>
      <p:sp>
        <p:nvSpPr>
          <p:cNvPr id="25" name="Text 23"/>
          <p:cNvSpPr/>
          <p:nvPr/>
        </p:nvSpPr>
        <p:spPr>
          <a:xfrm>
            <a:off x="6080760" y="5550408"/>
            <a:ext cx="2446020" cy="502920"/>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P/B của riêng VIC kéo lệch chỉ số chung</a:t>
            </a:r>
            <a:endParaRPr lang="en-US" sz="1050" dirty="0"/>
          </a:p>
        </p:txBody>
      </p:sp>
      <p:sp>
        <p:nvSpPr>
          <p:cNvPr id="26" name="Text 24"/>
          <p:cNvSpPr/>
          <p:nvPr/>
        </p:nvSpPr>
        <p:spPr>
          <a:xfrm>
            <a:off x="8709660" y="5056632"/>
            <a:ext cx="2446020" cy="457200"/>
          </a:xfrm>
          <a:prstGeom prst="rect">
            <a:avLst/>
          </a:prstGeom>
          <a:noFill/>
          <a:ln/>
        </p:spPr>
        <p:txBody>
          <a:bodyPr wrap="square" lIns="0" tIns="0" rIns="0" bIns="0" rtlCol="0" anchor="ctr"/>
          <a:lstStyle/>
          <a:p>
            <a:pPr marL="0" indent="0" algn="l">
              <a:buNone/>
            </a:pPr>
            <a:r>
              <a:rPr lang="en-US" sz="2400" b="1" dirty="0">
                <a:solidFill>
                  <a:srgbClr val="D71249"/>
                </a:solidFill>
                <a:latin typeface="Calibri" pitchFamily="34" charset="0"/>
                <a:ea typeface="Calibri" pitchFamily="34" charset="-122"/>
                <a:cs typeface="Calibri" pitchFamily="34" charset="-120"/>
              </a:rPr>
              <a:t>-7.497 tỷ</a:t>
            </a:r>
            <a:endParaRPr lang="en-US" sz="2400" dirty="0"/>
          </a:p>
        </p:txBody>
      </p:sp>
      <p:sp>
        <p:nvSpPr>
          <p:cNvPr id="27" name="Text 25"/>
          <p:cNvSpPr/>
          <p:nvPr/>
        </p:nvSpPr>
        <p:spPr>
          <a:xfrm>
            <a:off x="8709660" y="5550408"/>
            <a:ext cx="2446020" cy="502920"/>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Khối ngoại bán ròng trong tháng</a:t>
            </a:r>
            <a:endParaRPr lang="en-US" sz="1050" dirty="0"/>
          </a:p>
        </p:txBody>
      </p:sp>
      <p:sp>
        <p:nvSpPr>
          <p:cNvPr id="28" name="Text 2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29" name="Text 27"/>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01 · ĐỊNH GIÁ TỔNG THỂ</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Định </a:t>
            </a:r>
            <a:r>
              <a:rPr lang="en-US" sz="3000" b="1" dirty="0" err="1">
                <a:solidFill>
                  <a:srgbClr val="0B3D6E"/>
                </a:solidFill>
                <a:latin typeface="Calibri" pitchFamily="34" charset="0"/>
                <a:ea typeface="Calibri" pitchFamily="34" charset="-122"/>
                <a:cs typeface="Calibri" pitchFamily="34" charset="-120"/>
              </a:rPr>
              <a:t>giá</a:t>
            </a:r>
            <a:r>
              <a:rPr lang="en-US" sz="3000" b="1" dirty="0">
                <a:solidFill>
                  <a:srgbClr val="0B3D6E"/>
                </a:solidFill>
                <a:latin typeface="Calibri" pitchFamily="34" charset="0"/>
                <a:ea typeface="Calibri" pitchFamily="34" charset="-122"/>
                <a:cs typeface="Calibri" pitchFamily="34" charset="-120"/>
              </a:rPr>
              <a:t> </a:t>
            </a:r>
            <a:r>
              <a:rPr lang="en-US" sz="3000" b="1" dirty="0" err="1">
                <a:solidFill>
                  <a:srgbClr val="0B3D6E"/>
                </a:solidFill>
                <a:latin typeface="Calibri" pitchFamily="34" charset="0"/>
                <a:ea typeface="Calibri" pitchFamily="34" charset="-122"/>
                <a:cs typeface="Calibri" pitchFamily="34" charset="-120"/>
              </a:rPr>
              <a:t>toàn</a:t>
            </a:r>
            <a:r>
              <a:rPr lang="en-US" sz="3000" b="1" dirty="0">
                <a:solidFill>
                  <a:srgbClr val="0B3D6E"/>
                </a:solidFill>
                <a:latin typeface="Calibri" pitchFamily="34" charset="0"/>
                <a:ea typeface="Calibri" pitchFamily="34" charset="-122"/>
                <a:cs typeface="Calibri" pitchFamily="34" charset="-120"/>
              </a:rPr>
              <a:t> thị trường: có và không Vingroup</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90904409"/>
              </p:ext>
            </p:extLst>
          </p:nvPr>
        </p:nvGraphicFramePr>
        <p:xfrm>
          <a:off x="548640" y="1326965"/>
          <a:ext cx="11064239" cy="2816352"/>
        </p:xfrm>
        <a:graphic>
          <a:graphicData uri="http://schemas.openxmlformats.org/drawingml/2006/table">
            <a:tbl>
              <a:tblPr/>
              <a:tblGrid>
                <a:gridCol w="4741817">
                  <a:extLst>
                    <a:ext uri="{9D8B030D-6E8A-4147-A177-3AD203B41FA5}">
                      <a16:colId xmlns:a16="http://schemas.microsoft.com/office/drawing/2014/main" val="20000"/>
                    </a:ext>
                  </a:extLst>
                </a:gridCol>
                <a:gridCol w="3161211">
                  <a:extLst>
                    <a:ext uri="{9D8B030D-6E8A-4147-A177-3AD203B41FA5}">
                      <a16:colId xmlns:a16="http://schemas.microsoft.com/office/drawing/2014/main" val="20001"/>
                    </a:ext>
                  </a:extLst>
                </a:gridCol>
                <a:gridCol w="3161211">
                  <a:extLst>
                    <a:ext uri="{9D8B030D-6E8A-4147-A177-3AD203B41FA5}">
                      <a16:colId xmlns:a16="http://schemas.microsoft.com/office/drawing/2014/main" val="20002"/>
                    </a:ext>
                  </a:extLst>
                </a:gridCol>
              </a:tblGrid>
              <a:tr h="40233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Chỉ tiêu</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Gồm Vingroup</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Loại Vingroup</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extLst>
                  <a:ext uri="{0D108BD9-81ED-4DB2-BD59-A6C34878D82A}">
                    <a16:rowId xmlns:a16="http://schemas.microsoft.com/office/drawing/2014/main" val="10000"/>
                  </a:ext>
                </a:extLst>
              </a:tr>
              <a:tr h="402336">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P/E (lần)</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13,25</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10,95</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1"/>
                  </a:ext>
                </a:extLst>
              </a:tr>
              <a:tr h="402336">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P/B (lần)</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1,92</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1,56</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2"/>
                  </a:ext>
                </a:extLst>
              </a:tr>
              <a:tr h="402336">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Vị trí P/E, 3 năm</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733"/>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3"/>
                  </a:ext>
                </a:extLst>
              </a:tr>
              <a:tr h="402336">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Vị trí P/E, từ 2021</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300" dirty="0">
                          <a:solidFill>
                            <a:srgbClr val="1A2733"/>
                          </a:solidFill>
                          <a:latin typeface="Calibri" pitchFamily="34" charset="0"/>
                          <a:ea typeface="Calibri" pitchFamily="34" charset="-122"/>
                          <a:cs typeface="Calibri" pitchFamily="34" charset="-120"/>
                        </a:rPr>
                        <a:t>53%</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12,2%</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4"/>
                  </a:ext>
                </a:extLst>
              </a:tr>
              <a:tr h="402336">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Vị trí P/B, 3 năm</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0143E"/>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8DEE5"/>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5"/>
                  </a:ext>
                </a:extLst>
              </a:tr>
              <a:tr h="402336">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Vị trí P/B, từ 2021</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300" dirty="0">
                          <a:solidFill>
                            <a:srgbClr val="1A2733"/>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14,0%</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6"/>
                  </a:ext>
                </a:extLst>
              </a:tr>
            </a:tbl>
          </a:graphicData>
        </a:graphic>
      </p:graphicFrame>
      <p:sp>
        <p:nvSpPr>
          <p:cNvPr id="5" name="Shape 2"/>
          <p:cNvSpPr/>
          <p:nvPr/>
        </p:nvSpPr>
        <p:spPr>
          <a:xfrm>
            <a:off x="502920" y="4877342"/>
            <a:ext cx="11109960" cy="1376501"/>
          </a:xfrm>
          <a:prstGeom prst="roundRect">
            <a:avLst>
              <a:gd name="adj" fmla="val 2727"/>
            </a:avLst>
          </a:prstGeom>
          <a:solidFill>
            <a:srgbClr val="EEF3F8"/>
          </a:solidFill>
          <a:ln/>
          <a:effectLst>
            <a:outerShdw blurRad="63500" dist="25400" dir="5400000" algn="bl" rotWithShape="0">
              <a:srgbClr val="BBBBBB">
                <a:alpha val="35000"/>
              </a:srgbClr>
            </a:outerShdw>
          </a:effectLst>
        </p:spPr>
        <p:txBody>
          <a:bodyPr/>
          <a:lstStyle/>
          <a:p>
            <a:endParaRPr lang="en-US"/>
          </a:p>
        </p:txBody>
      </p:sp>
      <p:sp>
        <p:nvSpPr>
          <p:cNvPr id="7" name="Text 4"/>
          <p:cNvSpPr/>
          <p:nvPr/>
        </p:nvSpPr>
        <p:spPr>
          <a:xfrm>
            <a:off x="609600" y="5007974"/>
            <a:ext cx="10896600" cy="1596609"/>
          </a:xfrm>
          <a:prstGeom prst="rect">
            <a:avLst/>
          </a:prstGeom>
          <a:noFill/>
          <a:ln/>
        </p:spPr>
        <p:txBody>
          <a:bodyPr wrap="square" lIns="0" tIns="0" rIns="0" bIns="0" rtlCol="0" anchor="t"/>
          <a:lstStyle/>
          <a:p>
            <a:pPr marL="0" indent="0" algn="just">
              <a:lnSpc>
                <a:spcPct val="115000"/>
              </a:lnSpc>
              <a:buNone/>
            </a:pPr>
            <a:r>
              <a:rPr lang="en-US" sz="1250" b="1" dirty="0">
                <a:solidFill>
                  <a:srgbClr val="0B3D6E"/>
                </a:solidFill>
                <a:latin typeface="Calibri" pitchFamily="34" charset="0"/>
                <a:ea typeface="Calibri" pitchFamily="34" charset="-122"/>
                <a:cs typeface="Calibri" pitchFamily="34" charset="-120"/>
              </a:rPr>
              <a:t>Nhận </a:t>
            </a:r>
            <a:r>
              <a:rPr lang="en-US" sz="1250" b="1" dirty="0" err="1">
                <a:solidFill>
                  <a:srgbClr val="0B3D6E"/>
                </a:solidFill>
                <a:latin typeface="Calibri" pitchFamily="34" charset="0"/>
                <a:ea typeface="Calibri" pitchFamily="34" charset="-122"/>
                <a:cs typeface="Calibri" pitchFamily="34" charset="-120"/>
              </a:rPr>
              <a:t>định</a:t>
            </a:r>
            <a:r>
              <a:rPr lang="en-US" sz="1250" b="1" dirty="0">
                <a:solidFill>
                  <a:srgbClr val="0B3D6E"/>
                </a:solidFill>
                <a:latin typeface="Calibri" pitchFamily="34" charset="0"/>
                <a:ea typeface="Calibri" pitchFamily="34" charset="-122"/>
                <a:cs typeface="Calibri" pitchFamily="34" charset="-120"/>
              </a:rPr>
              <a:t>. </a:t>
            </a:r>
            <a:r>
              <a:rPr lang="vi-VN" sz="1250" dirty="0">
                <a:solidFill>
                  <a:srgbClr val="1A2733"/>
                </a:solidFill>
                <a:latin typeface="Calibri" pitchFamily="34" charset="0"/>
                <a:ea typeface="Calibri" pitchFamily="34" charset="-122"/>
                <a:cs typeface="Calibri" pitchFamily="34" charset="-120"/>
              </a:rPr>
              <a:t>Tính cả Vingroup, thị trường có vẻ chưa rẻ: P/E 13,25 lần và P/B 1,92 lần, riêng P/B nằm ở phân vị 82% của ba năm, tức vùng đắt. Nếu chỉ nhìn con số này, kết luận sẽ là thị trường còn xa vùng hấp dẫn. Nhưng khi loại nhóm Vingroup, bức tranh đảo chiều hoàn toàn: P/E rơi về 10,95 với vị trí chỉ 1,9, nghĩa là trong ba năm gần như chưa lúc nào định giá rẻ như hiện tại; P/B về 1,56 với vị trí 9, tức hơn 90% thời gian ba năm qua thị trường đắt hơn bây giờ. Mức chênh giữa hai cách tính rất lớn, P/B giảm khoảng 19% và P/E giảm hơn hai lần, cho thấy chỉ số tổng bị bóp méo mạnh. Nguyên nhân nằm ở VIC, cổ phiếu có P/B tới 11 lần và vốn hóa lớn nhất thị trường. Phần lõi thị trường, chiếm khoảng 73% vốn hóa, thực chất đang định giá thấp và đứng gần sát các đáy chu kỳ 2022 và 2025</a:t>
            </a:r>
            <a:r>
              <a:rPr lang="en-US" sz="1250" dirty="0">
                <a:solidFill>
                  <a:srgbClr val="1A2733"/>
                </a:solidFill>
                <a:latin typeface="Calibri" pitchFamily="34" charset="0"/>
                <a:ea typeface="Calibri" pitchFamily="34" charset="-122"/>
                <a:cs typeface="Calibri" pitchFamily="34" charset="-120"/>
              </a:rPr>
              <a:t>.</a:t>
            </a:r>
            <a:endParaRPr lang="en-US" sz="1250" dirty="0"/>
          </a:p>
        </p:txBody>
      </p:sp>
      <p:sp>
        <p:nvSpPr>
          <p:cNvPr id="10" name="Text 7"/>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11" name="Text 8"/>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3</a:t>
            </a:r>
            <a:endParaRPr lang="en-US" sz="900" dirty="0"/>
          </a:p>
        </p:txBody>
      </p:sp>
      <p:sp>
        <p:nvSpPr>
          <p:cNvPr id="13" name="Text 4">
            <a:extLst>
              <a:ext uri="{FF2B5EF4-FFF2-40B4-BE49-F238E27FC236}">
                <a16:creationId xmlns:a16="http://schemas.microsoft.com/office/drawing/2014/main" id="{F1AE8388-AB54-8420-A172-A459F867830A}"/>
              </a:ext>
            </a:extLst>
          </p:cNvPr>
          <p:cNvSpPr/>
          <p:nvPr/>
        </p:nvSpPr>
        <p:spPr>
          <a:xfrm>
            <a:off x="548640" y="4330332"/>
            <a:ext cx="10896600" cy="301540"/>
          </a:xfrm>
          <a:prstGeom prst="rect">
            <a:avLst/>
          </a:prstGeom>
          <a:noFill/>
          <a:ln/>
        </p:spPr>
        <p:txBody>
          <a:bodyPr wrap="square" lIns="0" tIns="0" rIns="0" bIns="0" rtlCol="0" anchor="t"/>
          <a:lstStyle/>
          <a:p>
            <a:pPr marL="0" indent="0" algn="just">
              <a:lnSpc>
                <a:spcPct val="115000"/>
              </a:lnSpc>
              <a:buNone/>
            </a:pPr>
            <a:r>
              <a:rPr lang="en-US" sz="1250" b="1" i="1" dirty="0">
                <a:solidFill>
                  <a:srgbClr val="0B3D6E"/>
                </a:solidFill>
                <a:latin typeface="Calibri" pitchFamily="34" charset="0"/>
                <a:ea typeface="Calibri" pitchFamily="34" charset="-122"/>
                <a:cs typeface="Calibri" pitchFamily="34" charset="-120"/>
              </a:rPr>
              <a:t>*</a:t>
            </a:r>
            <a:r>
              <a:rPr lang="en-US" sz="1250" b="1" i="1" dirty="0" err="1">
                <a:solidFill>
                  <a:srgbClr val="0B3D6E"/>
                </a:solidFill>
                <a:latin typeface="Calibri" pitchFamily="34" charset="0"/>
                <a:ea typeface="Calibri" pitchFamily="34" charset="-122"/>
                <a:cs typeface="Calibri" pitchFamily="34" charset="-120"/>
              </a:rPr>
              <a:t>Ghi</a:t>
            </a:r>
            <a:r>
              <a:rPr lang="en-US" sz="1250" b="1" i="1" dirty="0">
                <a:solidFill>
                  <a:srgbClr val="0B3D6E"/>
                </a:solidFill>
                <a:latin typeface="Calibri" pitchFamily="34" charset="0"/>
                <a:ea typeface="Calibri" pitchFamily="34" charset="-122"/>
                <a:cs typeface="Calibri" pitchFamily="34" charset="-120"/>
              </a:rPr>
              <a:t> </a:t>
            </a:r>
            <a:r>
              <a:rPr lang="en-US" sz="1250" b="1" i="1" dirty="0" err="1">
                <a:solidFill>
                  <a:srgbClr val="0B3D6E"/>
                </a:solidFill>
                <a:latin typeface="Calibri" pitchFamily="34" charset="0"/>
                <a:ea typeface="Calibri" pitchFamily="34" charset="-122"/>
                <a:cs typeface="Calibri" pitchFamily="34" charset="-120"/>
              </a:rPr>
              <a:t>chú</a:t>
            </a:r>
            <a:r>
              <a:rPr lang="en-US" sz="1250" b="1" i="1" dirty="0">
                <a:solidFill>
                  <a:srgbClr val="0B3D6E"/>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Vị</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trí</a:t>
            </a:r>
            <a:r>
              <a:rPr lang="en-US" sz="1250" i="1" dirty="0">
                <a:solidFill>
                  <a:srgbClr val="1A2733"/>
                </a:solidFill>
                <a:latin typeface="Calibri" pitchFamily="34" charset="0"/>
                <a:ea typeface="Calibri" pitchFamily="34" charset="-122"/>
                <a:cs typeface="Calibri" pitchFamily="34" charset="-120"/>
              </a:rPr>
              <a:t> P/E </a:t>
            </a:r>
            <a:r>
              <a:rPr lang="en-US" sz="1250" i="1" dirty="0" err="1">
                <a:solidFill>
                  <a:srgbClr val="1A2733"/>
                </a:solidFill>
                <a:latin typeface="Calibri" pitchFamily="34" charset="0"/>
                <a:ea typeface="Calibri" pitchFamily="34" charset="-122"/>
                <a:cs typeface="Calibri" pitchFamily="34" charset="-120"/>
              </a:rPr>
              <a:t>và</a:t>
            </a:r>
            <a:r>
              <a:rPr lang="en-US" sz="1250" i="1" dirty="0">
                <a:solidFill>
                  <a:srgbClr val="1A2733"/>
                </a:solidFill>
                <a:latin typeface="Calibri" pitchFamily="34" charset="0"/>
                <a:ea typeface="Calibri" pitchFamily="34" charset="-122"/>
                <a:cs typeface="Calibri" pitchFamily="34" charset="-120"/>
              </a:rPr>
              <a:t> P/B </a:t>
            </a:r>
            <a:r>
              <a:rPr lang="en-US" sz="1250" i="1" dirty="0" err="1">
                <a:solidFill>
                  <a:srgbClr val="1A2733"/>
                </a:solidFill>
                <a:latin typeface="Calibri" pitchFamily="34" charset="0"/>
                <a:ea typeface="Calibri" pitchFamily="34" charset="-122"/>
                <a:cs typeface="Calibri" pitchFamily="34" charset="-120"/>
              </a:rPr>
              <a:t>dưới</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dạng</a:t>
            </a:r>
            <a:r>
              <a:rPr lang="en-US" sz="1250" i="1" dirty="0">
                <a:solidFill>
                  <a:srgbClr val="1A2733"/>
                </a:solidFill>
                <a:latin typeface="Calibri" pitchFamily="34" charset="0"/>
                <a:ea typeface="Calibri" pitchFamily="34" charset="-122"/>
                <a:cs typeface="Calibri" pitchFamily="34" charset="-120"/>
              </a:rPr>
              <a:t> % </a:t>
            </a:r>
            <a:r>
              <a:rPr lang="en-US" sz="1250" i="1" dirty="0" err="1">
                <a:solidFill>
                  <a:srgbClr val="1A2733"/>
                </a:solidFill>
                <a:latin typeface="Calibri" pitchFamily="34" charset="0"/>
                <a:ea typeface="Calibri" pitchFamily="34" charset="-122"/>
                <a:cs typeface="Calibri" pitchFamily="34" charset="-120"/>
              </a:rPr>
              <a:t>thể</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hiện</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rằng</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trong</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khoảng</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thời</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gian</a:t>
            </a:r>
            <a:r>
              <a:rPr lang="en-US" sz="1250" i="1" dirty="0">
                <a:solidFill>
                  <a:srgbClr val="1A2733"/>
                </a:solidFill>
                <a:latin typeface="Calibri" pitchFamily="34" charset="0"/>
                <a:ea typeface="Calibri" pitchFamily="34" charset="-122"/>
                <a:cs typeface="Calibri" pitchFamily="34" charset="-120"/>
              </a:rPr>
              <a:t> qua, </a:t>
            </a:r>
            <a:r>
              <a:rPr lang="en-US" sz="1250" i="1" dirty="0" err="1">
                <a:solidFill>
                  <a:srgbClr val="1A2733"/>
                </a:solidFill>
                <a:latin typeface="Calibri" pitchFamily="34" charset="0"/>
                <a:ea typeface="Calibri" pitchFamily="34" charset="-122"/>
                <a:cs typeface="Calibri" pitchFamily="34" charset="-120"/>
              </a:rPr>
              <a:t>có</a:t>
            </a:r>
            <a:r>
              <a:rPr lang="en-US" sz="1250" i="1" dirty="0">
                <a:solidFill>
                  <a:srgbClr val="1A2733"/>
                </a:solidFill>
                <a:latin typeface="Calibri" pitchFamily="34" charset="0"/>
                <a:ea typeface="Calibri" pitchFamily="34" charset="-122"/>
                <a:cs typeface="Calibri" pitchFamily="34" charset="-120"/>
              </a:rPr>
              <a:t> bao </a:t>
            </a:r>
            <a:r>
              <a:rPr lang="en-US" sz="1250" i="1" dirty="0" err="1">
                <a:solidFill>
                  <a:srgbClr val="1A2733"/>
                </a:solidFill>
                <a:latin typeface="Calibri" pitchFamily="34" charset="0"/>
                <a:ea typeface="Calibri" pitchFamily="34" charset="-122"/>
                <a:cs typeface="Calibri" pitchFamily="34" charset="-120"/>
              </a:rPr>
              <a:t>nhiêu</a:t>
            </a:r>
            <a:r>
              <a:rPr lang="en-US" sz="1250" i="1" dirty="0">
                <a:solidFill>
                  <a:srgbClr val="1A2733"/>
                </a:solidFill>
                <a:latin typeface="Calibri" pitchFamily="34" charset="0"/>
                <a:ea typeface="Calibri" pitchFamily="34" charset="-122"/>
                <a:cs typeface="Calibri" pitchFamily="34" charset="-120"/>
              </a:rPr>
              <a:t> % </a:t>
            </a:r>
            <a:r>
              <a:rPr lang="en-US" sz="1250" i="1" dirty="0" err="1">
                <a:solidFill>
                  <a:srgbClr val="1A2733"/>
                </a:solidFill>
                <a:latin typeface="Calibri" pitchFamily="34" charset="0"/>
                <a:ea typeface="Calibri" pitchFamily="34" charset="-122"/>
                <a:cs typeface="Calibri" pitchFamily="34" charset="-120"/>
              </a:rPr>
              <a:t>số</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phiên</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có</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định</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giá</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thấp</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hơn</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hiện</a:t>
            </a:r>
            <a:r>
              <a:rPr lang="en-US" sz="1250" i="1" dirty="0">
                <a:solidFill>
                  <a:srgbClr val="1A2733"/>
                </a:solidFill>
                <a:latin typeface="Calibri" pitchFamily="34" charset="0"/>
                <a:ea typeface="Calibri" pitchFamily="34" charset="-122"/>
                <a:cs typeface="Calibri" pitchFamily="34" charset="-120"/>
              </a:rPr>
              <a:t> </a:t>
            </a:r>
            <a:r>
              <a:rPr lang="en-US" sz="1250" i="1" dirty="0" err="1">
                <a:solidFill>
                  <a:srgbClr val="1A2733"/>
                </a:solidFill>
                <a:latin typeface="Calibri" pitchFamily="34" charset="0"/>
                <a:ea typeface="Calibri" pitchFamily="34" charset="-122"/>
                <a:cs typeface="Calibri" pitchFamily="34" charset="-120"/>
              </a:rPr>
              <a:t>tại</a:t>
            </a:r>
            <a:r>
              <a:rPr lang="en-US" sz="1250" i="1" dirty="0">
                <a:solidFill>
                  <a:srgbClr val="1A2733"/>
                </a:solidFill>
                <a:latin typeface="Calibri" pitchFamily="34" charset="0"/>
                <a:ea typeface="Calibri" pitchFamily="34" charset="-122"/>
                <a:cs typeface="Calibri" pitchFamily="34" charset="-120"/>
              </a:rPr>
              <a:t>.</a:t>
            </a:r>
            <a:endParaRPr lang="en-US" sz="1250"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01 · ĐỊNH GIÁ TỔNG THỂ</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Vị trí theo thời gian và so với các đáy chu kỳ</a:t>
            </a:r>
            <a:endParaRPr lang="en-US" sz="3000" dirty="0"/>
          </a:p>
        </p:txBody>
      </p:sp>
      <p:sp>
        <p:nvSpPr>
          <p:cNvPr id="4" name="Text 2"/>
          <p:cNvSpPr/>
          <p:nvPr/>
        </p:nvSpPr>
        <p:spPr>
          <a:xfrm>
            <a:off x="548640" y="1417320"/>
            <a:ext cx="5029200" cy="32004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Vị trí định giá theo khung thời gian (gồm Vingroup)</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69592712"/>
              </p:ext>
            </p:extLst>
          </p:nvPr>
        </p:nvGraphicFramePr>
        <p:xfrm>
          <a:off x="548640" y="1783080"/>
          <a:ext cx="4937760" cy="2414016"/>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0233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Khung thời gian</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Vị trí P/E</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Vị trí P/B</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extLst>
                  <a:ext uri="{0D108BD9-81ED-4DB2-BD59-A6C34878D82A}">
                    <a16:rowId xmlns:a16="http://schemas.microsoft.com/office/drawing/2014/main" val="10000"/>
                  </a:ext>
                </a:extLst>
              </a:tr>
              <a:tr h="402336">
                <a:tc>
                  <a:txBody>
                    <a:bodyPr/>
                    <a:lstStyle/>
                    <a:p>
                      <a:pPr marL="0" indent="0" algn="l">
                        <a:buNone/>
                      </a:pPr>
                      <a:r>
                        <a:rPr lang="en-US" sz="1250" b="1" dirty="0">
                          <a:solidFill>
                            <a:srgbClr val="1A2733"/>
                          </a:solidFill>
                          <a:latin typeface="Calibri" pitchFamily="34" charset="0"/>
                          <a:ea typeface="Calibri" pitchFamily="34" charset="-122"/>
                          <a:cs typeface="Calibri" pitchFamily="34" charset="-120"/>
                        </a:rPr>
                        <a:t>1 năm</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7A4D"/>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250" dirty="0">
                          <a:solidFill>
                            <a:srgbClr val="1A2733"/>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250" b="1" dirty="0">
                          <a:solidFill>
                            <a:srgbClr val="1A2733"/>
                          </a:solidFill>
                          <a:latin typeface="Calibri" pitchFamily="34" charset="0"/>
                          <a:ea typeface="Calibri" pitchFamily="34" charset="-122"/>
                          <a:cs typeface="Calibri" pitchFamily="34" charset="-120"/>
                        </a:rPr>
                        <a:t>2 năm</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250" dirty="0">
                          <a:solidFill>
                            <a:srgbClr val="1A2733"/>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250" b="1" dirty="0">
                          <a:solidFill>
                            <a:srgbClr val="C0143E"/>
                          </a:solidFill>
                          <a:latin typeface="Calibri" pitchFamily="34" charset="0"/>
                          <a:ea typeface="Calibri" pitchFamily="34" charset="-122"/>
                          <a:cs typeface="Calibri" pitchFamily="34" charset="-120"/>
                        </a:rPr>
                        <a:t>73%</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8DEE5"/>
                    </a:solidFill>
                  </a:tcPr>
                </a:tc>
                <a:extLst>
                  <a:ext uri="{0D108BD9-81ED-4DB2-BD59-A6C34878D82A}">
                    <a16:rowId xmlns:a16="http://schemas.microsoft.com/office/drawing/2014/main" val="10002"/>
                  </a:ext>
                </a:extLst>
              </a:tr>
              <a:tr h="402336">
                <a:tc>
                  <a:txBody>
                    <a:bodyPr/>
                    <a:lstStyle/>
                    <a:p>
                      <a:pPr marL="0" indent="0" algn="l">
                        <a:buNone/>
                      </a:pPr>
                      <a:r>
                        <a:rPr lang="en-US" sz="1250" b="1" dirty="0">
                          <a:solidFill>
                            <a:srgbClr val="1A2733"/>
                          </a:solidFill>
                          <a:latin typeface="Calibri" pitchFamily="34" charset="0"/>
                          <a:ea typeface="Calibri" pitchFamily="34" charset="-122"/>
                          <a:cs typeface="Calibri" pitchFamily="34" charset="-120"/>
                        </a:rPr>
                        <a:t>3 năm</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733"/>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0143E"/>
                          </a:solidFill>
                          <a:latin typeface="Calibri" pitchFamily="34" charset="0"/>
                          <a:ea typeface="Calibri" pitchFamily="34" charset="-122"/>
                          <a:cs typeface="Calibri" pitchFamily="34" charset="-120"/>
                        </a:rPr>
                        <a:t>82%</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8DEE5"/>
                    </a:solidFill>
                  </a:tcPr>
                </a:tc>
                <a:extLst>
                  <a:ext uri="{0D108BD9-81ED-4DB2-BD59-A6C34878D82A}">
                    <a16:rowId xmlns:a16="http://schemas.microsoft.com/office/drawing/2014/main" val="10003"/>
                  </a:ext>
                </a:extLst>
              </a:tr>
              <a:tr h="402336">
                <a:tc>
                  <a:txBody>
                    <a:bodyPr/>
                    <a:lstStyle/>
                    <a:p>
                      <a:pPr marL="0" indent="0" algn="l">
                        <a:buNone/>
                      </a:pPr>
                      <a:r>
                        <a:rPr lang="en-US" sz="1250" b="1" dirty="0">
                          <a:solidFill>
                            <a:srgbClr val="1A2733"/>
                          </a:solidFill>
                          <a:latin typeface="Calibri" pitchFamily="34" charset="0"/>
                          <a:ea typeface="Calibri" pitchFamily="34" charset="-122"/>
                          <a:cs typeface="Calibri" pitchFamily="34" charset="-120"/>
                        </a:rPr>
                        <a:t>5 năm</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250" dirty="0">
                          <a:solidFill>
                            <a:srgbClr val="1A2733"/>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250" dirty="0">
                          <a:solidFill>
                            <a:srgbClr val="1A2733"/>
                          </a:solidFill>
                          <a:latin typeface="Calibri" pitchFamily="34" charset="0"/>
                          <a:ea typeface="Calibri" pitchFamily="34" charset="-122"/>
                          <a:cs typeface="Calibri" pitchFamily="34" charset="-120"/>
                        </a:rPr>
                        <a:t>66%</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402336">
                <a:tc>
                  <a:txBody>
                    <a:bodyPr/>
                    <a:lstStyle/>
                    <a:p>
                      <a:pPr marL="0" indent="0" algn="l">
                        <a:buNone/>
                      </a:pPr>
                      <a:r>
                        <a:rPr lang="en-US" sz="1250" b="1" dirty="0">
                          <a:solidFill>
                            <a:srgbClr val="1A2733"/>
                          </a:solidFill>
                          <a:latin typeface="Calibri" pitchFamily="34" charset="0"/>
                          <a:ea typeface="Calibri" pitchFamily="34" charset="-122"/>
                          <a:cs typeface="Calibri" pitchFamily="34" charset="-120"/>
                        </a:rPr>
                        <a:t>Từ 2021</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733"/>
                          </a:solidFill>
                          <a:latin typeface="Calibri" pitchFamily="34" charset="0"/>
                          <a:ea typeface="Calibri" pitchFamily="34" charset="-122"/>
                          <a:cs typeface="Calibri" pitchFamily="34" charset="-120"/>
                        </a:rPr>
                        <a:t>53%</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733"/>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852160" y="1417320"/>
            <a:ext cx="5760720" cy="32004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So sánh định giá với bốn đáy gần nhất</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852160" y="1783080"/>
          <a:ext cx="5760720" cy="2414016"/>
        </p:xfrm>
        <a:graphic>
          <a:graphicData uri="http://schemas.openxmlformats.org/drawingml/2006/table">
            <a:tbl>
              <a:tblPr/>
              <a:tblGrid>
                <a:gridCol w="19202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0233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Mốc</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P/E gồm Vin</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P/B gồm Vin</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P/E loại Vin</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P/B loại Vin</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extLst>
                  <a:ext uri="{0D108BD9-81ED-4DB2-BD59-A6C34878D82A}">
                    <a16:rowId xmlns:a16="http://schemas.microsoft.com/office/drawing/2014/main" val="10000"/>
                  </a:ext>
                </a:extLst>
              </a:tr>
              <a:tr h="402336">
                <a:tc>
                  <a:txBody>
                    <a:bodyPr/>
                    <a:lstStyle/>
                    <a:p>
                      <a:pPr marL="0" indent="0" algn="l">
                        <a:buNone/>
                      </a:pPr>
                      <a:r>
                        <a:rPr lang="en-US" sz="1100" b="1" dirty="0">
                          <a:solidFill>
                            <a:srgbClr val="1A2733"/>
                          </a:solidFill>
                          <a:latin typeface="Calibri" pitchFamily="34" charset="0"/>
                          <a:ea typeface="Calibri" pitchFamily="34" charset="-122"/>
                          <a:cs typeface="Calibri" pitchFamily="34" charset="-120"/>
                        </a:rPr>
                        <a:t>Đáy 11/2022</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9,52</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9,94</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1,52</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100" b="1" dirty="0">
                          <a:solidFill>
                            <a:srgbClr val="1A2733"/>
                          </a:solidFill>
                          <a:latin typeface="Calibri" pitchFamily="34" charset="0"/>
                          <a:ea typeface="Calibri" pitchFamily="34" charset="-122"/>
                          <a:cs typeface="Calibri" pitchFamily="34" charset="-120"/>
                        </a:rPr>
                        <a:t>Vùng 02-03/2023</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9,94</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1,42</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9,89</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1,43</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402336">
                <a:tc>
                  <a:txBody>
                    <a:bodyPr/>
                    <a:lstStyle/>
                    <a:p>
                      <a:pPr marL="0" indent="0" algn="l">
                        <a:buNone/>
                      </a:pPr>
                      <a:r>
                        <a:rPr lang="en-US" sz="1100" b="1" dirty="0">
                          <a:solidFill>
                            <a:srgbClr val="1A2733"/>
                          </a:solidFill>
                          <a:latin typeface="Calibri" pitchFamily="34" charset="0"/>
                          <a:ea typeface="Calibri" pitchFamily="34" charset="-122"/>
                          <a:cs typeface="Calibri" pitchFamily="34" charset="-120"/>
                        </a:rPr>
                        <a:t>Đầu 2024</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12,29</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1,44</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12,58</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1,49</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100" b="1" dirty="0">
                          <a:solidFill>
                            <a:srgbClr val="1A2733"/>
                          </a:solidFill>
                          <a:latin typeface="Calibri" pitchFamily="34" charset="0"/>
                          <a:ea typeface="Calibri" pitchFamily="34" charset="-122"/>
                          <a:cs typeface="Calibri" pitchFamily="34" charset="-120"/>
                        </a:rPr>
                        <a:t>Đáy 04/2025</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10,26</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10,40</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1,36</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402336">
                <a:tc>
                  <a:txBody>
                    <a:bodyPr/>
                    <a:lstStyle/>
                    <a:p>
                      <a:pPr marL="0" indent="0" algn="l">
                        <a:buNone/>
                      </a:pPr>
                      <a:r>
                        <a:rPr lang="en-US" sz="1100" b="1" dirty="0">
                          <a:solidFill>
                            <a:srgbClr val="1A2733"/>
                          </a:solidFill>
                          <a:latin typeface="Calibri" pitchFamily="34" charset="0"/>
                          <a:ea typeface="Calibri" pitchFamily="34" charset="-122"/>
                          <a:cs typeface="Calibri" pitchFamily="34" charset="-120"/>
                        </a:rPr>
                        <a:t>Hiện tại 17/07/2026</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13,25</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1,92</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10,95</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733"/>
                          </a:solidFill>
                          <a:latin typeface="Calibri" pitchFamily="34" charset="0"/>
                          <a:ea typeface="Calibri" pitchFamily="34" charset="-122"/>
                          <a:cs typeface="Calibri" pitchFamily="34" charset="-120"/>
                        </a:rPr>
                        <a:t>1,56</a:t>
                      </a:r>
                      <a:endParaRPr lang="en-US" sz="11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4"/>
          <p:cNvSpPr/>
          <p:nvPr/>
        </p:nvSpPr>
        <p:spPr>
          <a:xfrm>
            <a:off x="548640" y="4539343"/>
            <a:ext cx="11064240" cy="1583872"/>
          </a:xfrm>
          <a:prstGeom prst="roundRect">
            <a:avLst>
              <a:gd name="adj" fmla="val 4000"/>
            </a:avLst>
          </a:prstGeom>
          <a:solidFill>
            <a:srgbClr val="EEF3F8"/>
          </a:solidFill>
          <a:ln/>
          <a:effectLst>
            <a:outerShdw blurRad="63500" dist="25400" dir="5400000" algn="bl" rotWithShape="0">
              <a:srgbClr val="BBBBBB">
                <a:alpha val="35000"/>
              </a:srgbClr>
            </a:outerShdw>
          </a:effectLst>
        </p:spPr>
        <p:txBody>
          <a:bodyPr/>
          <a:lstStyle/>
          <a:p>
            <a:endParaRPr lang="en-US"/>
          </a:p>
        </p:txBody>
      </p:sp>
      <p:sp>
        <p:nvSpPr>
          <p:cNvPr id="7" name="Text 5"/>
          <p:cNvSpPr/>
          <p:nvPr/>
        </p:nvSpPr>
        <p:spPr>
          <a:xfrm>
            <a:off x="749808" y="4701322"/>
            <a:ext cx="10661904" cy="1335024"/>
          </a:xfrm>
          <a:prstGeom prst="rect">
            <a:avLst/>
          </a:prstGeom>
          <a:noFill/>
          <a:ln/>
        </p:spPr>
        <p:txBody>
          <a:bodyPr wrap="square" lIns="0" tIns="0" rIns="0" bIns="0" rtlCol="0" anchor="ctr"/>
          <a:lstStyle/>
          <a:p>
            <a:pPr marL="0" indent="0" algn="just">
              <a:buNone/>
            </a:pPr>
            <a:r>
              <a:rPr lang="vi-VN" sz="1250" dirty="0">
                <a:solidFill>
                  <a:srgbClr val="1A2733"/>
                </a:solidFill>
                <a:latin typeface="Calibri" pitchFamily="34" charset="0"/>
                <a:ea typeface="Calibri" pitchFamily="34" charset="-122"/>
                <a:cs typeface="Calibri" pitchFamily="34" charset="-120"/>
              </a:rPr>
              <a:t>Hai bảng cho một kết luận nhất quán và đều cho thấy phải loại Vingroup mới thấy đúng. Chỉ số gồm Vingroup lệch pha: P/E chỉ quanh phân vị 53 đến 60, nhưng P/B leo lên 82 của ba năm, dấu hiệu của méo định giá do vốn hóa. Tính cả Vingroup, P/B hiện tại cao hơn đáy 11/2022 tới 28% và đáy 04/2025 tới 45%, tạo cảm giác thị trường còn xa vùng đáy. Nhưng loại Vingroup, P/B hiện tại chỉ cao hơn đáy 11/2022 khoảng 2,5% và đáy sâu nhất 04/2025 khoảng 15%, còn P/E thậm chí thấp hơn đầu 2024. Hai đáy này gắn với khủng hoảng trái phiếu cuối 2022 và cú sốc thuế quan 04/2025, tức những lúc bi quan nhất chu kỳ. Phần lõi thị trường hiện đứng sát các mốc đó dù không có cú sốc tương đương đang diễn ra, cho thấy định giá thực đã về vùng giá trị của đáy chu kỳ chứ không phải vùng trung bình như con số tổng gợi ý.</a:t>
            </a:r>
            <a:endParaRPr lang="en-US" sz="1250" dirty="0"/>
          </a:p>
        </p:txBody>
      </p:sp>
      <p:sp>
        <p:nvSpPr>
          <p:cNvPr id="10"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11" name="Text 7"/>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02 · ĐỊNH GIÁ THEO NGÀNH</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Định giá 18 ngành, xếp theo mức P/B</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2594150187"/>
              </p:ext>
            </p:extLst>
          </p:nvPr>
        </p:nvGraphicFramePr>
        <p:xfrm>
          <a:off x="548640" y="1371600"/>
          <a:ext cx="8485633" cy="4916725"/>
        </p:xfrm>
        <a:graphic>
          <a:graphicData uri="http://schemas.openxmlformats.org/drawingml/2006/table">
            <a:tbl>
              <a:tblPr/>
              <a:tblGrid>
                <a:gridCol w="3542546">
                  <a:extLst>
                    <a:ext uri="{9D8B030D-6E8A-4147-A177-3AD203B41FA5}">
                      <a16:colId xmlns:a16="http://schemas.microsoft.com/office/drawing/2014/main" val="20000"/>
                    </a:ext>
                  </a:extLst>
                </a:gridCol>
                <a:gridCol w="988617">
                  <a:extLst>
                    <a:ext uri="{9D8B030D-6E8A-4147-A177-3AD203B41FA5}">
                      <a16:colId xmlns:a16="http://schemas.microsoft.com/office/drawing/2014/main" val="20001"/>
                    </a:ext>
                  </a:extLst>
                </a:gridCol>
                <a:gridCol w="1565311">
                  <a:extLst>
                    <a:ext uri="{9D8B030D-6E8A-4147-A177-3AD203B41FA5}">
                      <a16:colId xmlns:a16="http://schemas.microsoft.com/office/drawing/2014/main" val="20002"/>
                    </a:ext>
                  </a:extLst>
                </a:gridCol>
                <a:gridCol w="823848">
                  <a:extLst>
                    <a:ext uri="{9D8B030D-6E8A-4147-A177-3AD203B41FA5}">
                      <a16:colId xmlns:a16="http://schemas.microsoft.com/office/drawing/2014/main" val="20003"/>
                    </a:ext>
                  </a:extLst>
                </a:gridCol>
                <a:gridCol w="1565311">
                  <a:extLst>
                    <a:ext uri="{9D8B030D-6E8A-4147-A177-3AD203B41FA5}">
                      <a16:colId xmlns:a16="http://schemas.microsoft.com/office/drawing/2014/main" val="20004"/>
                    </a:ext>
                  </a:extLst>
                </a:gridCol>
              </a:tblGrid>
              <a:tr h="258775">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Ngành</a:t>
                      </a:r>
                      <a:endParaRPr lang="en-US" sz="11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P/E</a:t>
                      </a:r>
                      <a:endParaRPr lang="en-US" sz="11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Vị trí P/E 3 năm</a:t>
                      </a:r>
                      <a:endParaRPr lang="en-US" sz="11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P/B</a:t>
                      </a:r>
                      <a:endParaRPr lang="en-US" sz="11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Vị trí P/B 3 năm</a:t>
                      </a:r>
                      <a:endParaRPr lang="en-US" sz="11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extLst>
                  <a:ext uri="{0D108BD9-81ED-4DB2-BD59-A6C34878D82A}">
                    <a16:rowId xmlns:a16="http://schemas.microsoft.com/office/drawing/2014/main" val="10000"/>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Dịch vụ Dầu khí</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12,86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31%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1,81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0143E"/>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8DEE5"/>
                    </a:solidFill>
                  </a:tcPr>
                </a:tc>
                <a:extLst>
                  <a:ext uri="{0D108BD9-81ED-4DB2-BD59-A6C34878D82A}">
                    <a16:rowId xmlns:a16="http://schemas.microsoft.com/office/drawing/2014/main" val="10001"/>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Tài nguyên cơ bản</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16,86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C0143E"/>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8DEE5"/>
                    </a:solidFill>
                  </a:tcPr>
                </a:tc>
                <a:extLst>
                  <a:ext uri="{0D108BD9-81ED-4DB2-BD59-A6C34878D82A}">
                    <a16:rowId xmlns:a16="http://schemas.microsoft.com/office/drawing/2014/main" val="10002"/>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Công ty Chứng khoán</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15,74</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1,76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69%</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Hạ tầng Tiện ích</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9,94</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Thực phẩm Đồ uống</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15,99</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2,89</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Thiết bị Công nghiệp</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8,66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1,26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53%</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Công nghệ Viễn thông</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16,86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3,72</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7"/>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Tài chính ngân hàng</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9,35</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51%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1,46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8"/>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Nông nghiệp Chăn nuôi</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9,81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9"/>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Bất động sản Dân dụng (loại Vin)</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12,66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7,7%</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0,86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0"/>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Chế biến Thủy sản</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8,26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1,06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1"/>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Bán lẻ Tiêu dùng</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11,85</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2,16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2"/>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Kim loại công nghiệp</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9,21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3"/>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Vận tải Kho bãi</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11,11</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1,48</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4"/>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Hóa chất Phân bón</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3,32</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5"/>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Dệt may Xuất khẩu</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5,78</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0,73</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6"/>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Bất động sản Khu công nghiệp</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14,93</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1,63</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7"/>
                  </a:ext>
                </a:extLst>
              </a:tr>
              <a:tr h="258775">
                <a:tc>
                  <a:txBody>
                    <a:bodyPr/>
                    <a:lstStyle/>
                    <a:p>
                      <a:pPr marL="0" indent="0" algn="l">
                        <a:buNone/>
                      </a:pPr>
                      <a:r>
                        <a:rPr lang="en-US" sz="1050" b="1" dirty="0">
                          <a:solidFill>
                            <a:srgbClr val="1A2733"/>
                          </a:solidFill>
                          <a:latin typeface="Calibri" pitchFamily="34" charset="0"/>
                          <a:ea typeface="Calibri" pitchFamily="34" charset="-122"/>
                          <a:cs typeface="Calibri" pitchFamily="34" charset="-120"/>
                        </a:rPr>
                        <a:t>Thi công Xây dựng</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9,03</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050" dirty="0">
                          <a:solidFill>
                            <a:srgbClr val="1A2733"/>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50" b="1" dirty="0">
                          <a:solidFill>
                            <a:srgbClr val="1F7A4D"/>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18"/>
                  </a:ext>
                </a:extLst>
              </a:tr>
            </a:tbl>
          </a:graphicData>
        </a:graphic>
      </p:graphicFrame>
      <p:sp>
        <p:nvSpPr>
          <p:cNvPr id="5" name="Shape 2"/>
          <p:cNvSpPr/>
          <p:nvPr/>
        </p:nvSpPr>
        <p:spPr>
          <a:xfrm>
            <a:off x="9235440" y="1371600"/>
            <a:ext cx="2377440" cy="2743200"/>
          </a:xfrm>
          <a:prstGeom prst="roundRect">
            <a:avLst>
              <a:gd name="adj" fmla="val 2308"/>
            </a:avLst>
          </a:prstGeom>
          <a:solidFill>
            <a:srgbClr val="EEF3F8"/>
          </a:solidFill>
          <a:ln/>
          <a:effectLst>
            <a:outerShdw blurRad="63500" dist="25400" dir="5400000" algn="bl" rotWithShape="0">
              <a:srgbClr val="BBBBBB">
                <a:alpha val="35000"/>
              </a:srgbClr>
            </a:outerShdw>
          </a:effectLst>
        </p:spPr>
        <p:txBody>
          <a:bodyPr/>
          <a:lstStyle/>
          <a:p>
            <a:endParaRPr lang="en-US"/>
          </a:p>
        </p:txBody>
      </p:sp>
      <p:sp>
        <p:nvSpPr>
          <p:cNvPr id="4" name="Text 3"/>
          <p:cNvSpPr/>
          <p:nvPr/>
        </p:nvSpPr>
        <p:spPr>
          <a:xfrm>
            <a:off x="9436608" y="1389888"/>
            <a:ext cx="1975104" cy="2706624"/>
          </a:xfrm>
          <a:prstGeom prst="rect">
            <a:avLst/>
          </a:prstGeom>
          <a:noFill/>
          <a:ln/>
        </p:spPr>
        <p:txBody>
          <a:bodyPr wrap="square" lIns="0" tIns="0" rIns="0" bIns="0" rtlCol="0" anchor="ctr"/>
          <a:lstStyle/>
          <a:p>
            <a:pPr marL="0" indent="0" algn="l">
              <a:buNone/>
            </a:pPr>
            <a:r>
              <a:rPr lang="en-US" sz="1250" dirty="0">
                <a:solidFill>
                  <a:srgbClr val="1A2733"/>
                </a:solidFill>
                <a:latin typeface="Calibri" pitchFamily="34" charset="0"/>
                <a:ea typeface="Calibri" pitchFamily="34" charset="-122"/>
                <a:cs typeface="Calibri" pitchFamily="34" charset="-120"/>
              </a:rPr>
              <a:t>Chỉ ba ngành ở vùng đắt về P/B, và đều là nhóm vốn hóa lớn hút tiền đầu cơ. Phần lớn ngành sản xuất, xuất khẩu và bất động sản nằm ở vùng rẻ hoặc rất rẻ.</a:t>
            </a:r>
            <a:endParaRPr lang="en-US" sz="1250" dirty="0"/>
          </a:p>
        </p:txBody>
      </p:sp>
      <p:sp>
        <p:nvSpPr>
          <p:cNvPr id="7" name="Shape 4"/>
          <p:cNvSpPr/>
          <p:nvPr/>
        </p:nvSpPr>
        <p:spPr>
          <a:xfrm>
            <a:off x="9235440" y="4251960"/>
            <a:ext cx="2377440" cy="1280160"/>
          </a:xfrm>
          <a:prstGeom prst="roundRect">
            <a:avLst>
              <a:gd name="adj" fmla="val 4286"/>
            </a:avLst>
          </a:prstGeom>
          <a:solidFill>
            <a:srgbClr val="EEF3F8"/>
          </a:solidFill>
          <a:ln/>
          <a:effectLst>
            <a:outerShdw blurRad="63500" dist="25400" dir="5400000" algn="bl" rotWithShape="0">
              <a:srgbClr val="BBBBBB">
                <a:alpha val="35000"/>
              </a:srgbClr>
            </a:outerShdw>
          </a:effectLst>
        </p:spPr>
        <p:txBody>
          <a:bodyPr/>
          <a:lstStyle/>
          <a:p>
            <a:endParaRPr lang="en-US"/>
          </a:p>
        </p:txBody>
      </p:sp>
      <p:sp>
        <p:nvSpPr>
          <p:cNvPr id="8" name="Text 5"/>
          <p:cNvSpPr/>
          <p:nvPr/>
        </p:nvSpPr>
        <p:spPr>
          <a:xfrm>
            <a:off x="9436608" y="4270248"/>
            <a:ext cx="1975104" cy="1243584"/>
          </a:xfrm>
          <a:prstGeom prst="rect">
            <a:avLst/>
          </a:prstGeom>
          <a:noFill/>
          <a:ln/>
        </p:spPr>
        <p:txBody>
          <a:bodyPr wrap="square" lIns="0" tIns="0" rIns="0" bIns="0" rtlCol="0" anchor="ctr"/>
          <a:lstStyle/>
          <a:p>
            <a:pPr marL="0" indent="0" algn="l">
              <a:buNone/>
            </a:pPr>
            <a:r>
              <a:rPr lang="en-US" sz="1250" dirty="0">
                <a:solidFill>
                  <a:srgbClr val="1A2733"/>
                </a:solidFill>
                <a:latin typeface="Calibri" pitchFamily="34" charset="0"/>
                <a:ea typeface="Calibri" pitchFamily="34" charset="-122"/>
                <a:cs typeface="Calibri" pitchFamily="34" charset="-120"/>
              </a:rPr>
              <a:t>Bất động sản nhà ở đã trình ở dạng loại ba trụ Vingroup. Số liệu gồm Vingroup xem slide sau.</a:t>
            </a:r>
            <a:endParaRPr lang="en-US" sz="1250" dirty="0"/>
          </a:p>
        </p:txBody>
      </p:sp>
      <p:sp>
        <p:nvSpPr>
          <p:cNvPr id="9"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10" name="Text 7"/>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03 · DÒNG TIỀN</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Dòng tiền và biến động 18 ngành</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732520" cy="4916725"/>
        </p:xfrm>
        <a:graphic>
          <a:graphicData uri="http://schemas.openxmlformats.org/drawingml/2006/table">
            <a:tbl>
              <a:tblPr/>
              <a:tblGrid>
                <a:gridCol w="3063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258775">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Ngành</a:t>
                      </a:r>
                      <a:endParaRPr lang="en-US" sz="1050" dirty="0">
                        <a:latin typeface="Calibri" charset="0"/>
                        <a:ea typeface="Calibri" charset="0"/>
                        <a:cs typeface="Calibri" charset="0"/>
                      </a:endParaRPr>
                    </a:p>
                  </a:txBody>
                  <a:tcPr marL="38100" marR="381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DT ngày</a:t>
                      </a:r>
                      <a:endParaRPr lang="en-US" sz="1050" dirty="0">
                        <a:latin typeface="Calibri" charset="0"/>
                        <a:ea typeface="Calibri" charset="0"/>
                        <a:cs typeface="Calibri" charset="0"/>
                      </a:endParaRPr>
                    </a:p>
                  </a:txBody>
                  <a:tcPr marL="38100" marR="381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DT tuần</a:t>
                      </a:r>
                      <a:endParaRPr lang="en-US" sz="1050" dirty="0">
                        <a:latin typeface="Calibri" charset="0"/>
                        <a:ea typeface="Calibri" charset="0"/>
                        <a:cs typeface="Calibri" charset="0"/>
                      </a:endParaRPr>
                    </a:p>
                  </a:txBody>
                  <a:tcPr marL="38100" marR="381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Giá tuần %</a:t>
                      </a:r>
                      <a:endParaRPr lang="en-US" sz="1050" dirty="0">
                        <a:latin typeface="Calibri" charset="0"/>
                        <a:ea typeface="Calibri" charset="0"/>
                        <a:cs typeface="Calibri" charset="0"/>
                      </a:endParaRPr>
                    </a:p>
                  </a:txBody>
                  <a:tcPr marL="38100" marR="381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Giá tháng %</a:t>
                      </a:r>
                      <a:endParaRPr lang="en-US" sz="1050" dirty="0">
                        <a:latin typeface="Calibri" charset="0"/>
                        <a:ea typeface="Calibri" charset="0"/>
                        <a:cs typeface="Calibri" charset="0"/>
                      </a:endParaRPr>
                    </a:p>
                  </a:txBody>
                  <a:tcPr marL="38100" marR="381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Giá năm %</a:t>
                      </a:r>
                      <a:endParaRPr lang="en-US" sz="1050" dirty="0">
                        <a:latin typeface="Calibri" charset="0"/>
                        <a:ea typeface="Calibri" charset="0"/>
                        <a:cs typeface="Calibri" charset="0"/>
                      </a:endParaRPr>
                    </a:p>
                  </a:txBody>
                  <a:tcPr marL="38100" marR="381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KT</a:t>
                      </a:r>
                      <a:endParaRPr lang="en-US" sz="1050" dirty="0">
                        <a:latin typeface="Calibri" charset="0"/>
                        <a:ea typeface="Calibri" charset="0"/>
                        <a:cs typeface="Calibri" charset="0"/>
                      </a:endParaRPr>
                    </a:p>
                  </a:txBody>
                  <a:tcPr marL="38100" marR="381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extLst>
                  <a:ext uri="{0D108BD9-81ED-4DB2-BD59-A6C34878D82A}">
                    <a16:rowId xmlns:a16="http://schemas.microsoft.com/office/drawing/2014/main" val="10000"/>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Tài nguyên cơ bản</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0,34</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46,62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-4,25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28,79</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Thiết bị Công nghiệp</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14,18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40,62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1,26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-2,75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2,05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Dịch vụ Dầu khí</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-14,18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28,11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0,22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-4,37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36,86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Hóa chất Phân bón</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1,39</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27,09</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-21,13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Thi công Xây dựng</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-5,01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26,62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-2,81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-5,60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Bán lẻ Tiêu dùng</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4,81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24,68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-2,25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-11,33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Công ty Chứng khoán</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-12,32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23,49</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-6,05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-5,04</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-14,81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Thực phẩm Đồ uống</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12,43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20,19</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-0,28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14,57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AAA</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08"/>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Bất động sản Dân dụng</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-9,70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-3,61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-7,85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-15,36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Bất động sản Khu công nghiệp</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-2,03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12,04</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-3,76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-9,83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-11,33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10"/>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Tài chính ngân hàng</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-1,66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-0,76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13,73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Hạ tầng Tiện ích</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-8,69</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2,10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-0,37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-4,15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2,90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12"/>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Nông nghiệp Chăn nuôi</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-0,47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7A4D"/>
                          </a:solidFill>
                          <a:latin typeface="Calibri" pitchFamily="34" charset="0"/>
                          <a:ea typeface="Calibri" pitchFamily="34" charset="-122"/>
                          <a:cs typeface="Calibri" pitchFamily="34" charset="-120"/>
                        </a:rPr>
                        <a:t>0,51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-2,22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-1,43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-1,27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Kim loại công nghiệp</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-21,36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C0143E"/>
                          </a:solidFill>
                          <a:latin typeface="Calibri" pitchFamily="34" charset="0"/>
                          <a:ea typeface="Calibri" pitchFamily="34" charset="-122"/>
                          <a:cs typeface="Calibri" pitchFamily="34" charset="-120"/>
                        </a:rPr>
                        <a:t>-1,54</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-5,58</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-8,41</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-14,15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14"/>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Vận tải Kho bãi</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-9,02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C0143E"/>
                          </a:solidFill>
                          <a:latin typeface="Calibri" pitchFamily="34" charset="0"/>
                          <a:ea typeface="Calibri" pitchFamily="34" charset="-122"/>
                          <a:cs typeface="Calibri" pitchFamily="34" charset="-120"/>
                        </a:rPr>
                        <a:t>-5,46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-4,52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-9,72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-11,85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Công nghệ Viễn thông</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-1,37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C0143E"/>
                          </a:solidFill>
                          <a:latin typeface="Calibri" pitchFamily="34" charset="0"/>
                          <a:ea typeface="Calibri" pitchFamily="34" charset="-122"/>
                          <a:cs typeface="Calibri" pitchFamily="34" charset="-120"/>
                        </a:rPr>
                        <a:t>-5,67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-4,72</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-7,75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-11,66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16"/>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Chế biến Thủy sản</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-8,70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C0143E"/>
                          </a:solidFill>
                          <a:latin typeface="Calibri" pitchFamily="34" charset="0"/>
                          <a:ea typeface="Calibri" pitchFamily="34" charset="-122"/>
                          <a:cs typeface="Calibri" pitchFamily="34" charset="-120"/>
                        </a:rPr>
                        <a:t>-23,40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-4,47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-8,36</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-13,25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258775">
                <a:tc>
                  <a:txBody>
                    <a:bodyPr/>
                    <a:lstStyle/>
                    <a:p>
                      <a:pPr marL="0" indent="0" algn="l">
                        <a:buNone/>
                      </a:pPr>
                      <a:r>
                        <a:rPr lang="en-US" sz="1000" b="1" dirty="0">
                          <a:solidFill>
                            <a:srgbClr val="1A2733"/>
                          </a:solidFill>
                          <a:latin typeface="Calibri" pitchFamily="34" charset="0"/>
                          <a:ea typeface="Calibri" pitchFamily="34" charset="-122"/>
                          <a:cs typeface="Calibri" pitchFamily="34" charset="-120"/>
                        </a:rPr>
                        <a:t>Dệt may Xuất khẩu</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-19,67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b="1" dirty="0">
                          <a:solidFill>
                            <a:srgbClr val="C0143E"/>
                          </a:solidFill>
                          <a:latin typeface="Calibri" pitchFamily="34" charset="0"/>
                          <a:ea typeface="Calibri" pitchFamily="34" charset="-122"/>
                          <a:cs typeface="Calibri" pitchFamily="34" charset="-120"/>
                        </a:rPr>
                        <a:t>-49,90</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-7,75</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-11,37</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-22,33</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000" dirty="0">
                          <a:solidFill>
                            <a:srgbClr val="1A2733"/>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38100" marR="38100" marT="12700" marB="127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extLst>
                  <a:ext uri="{0D108BD9-81ED-4DB2-BD59-A6C34878D82A}">
                    <a16:rowId xmlns:a16="http://schemas.microsoft.com/office/drawing/2014/main" val="10018"/>
                  </a:ext>
                </a:extLst>
              </a:tr>
            </a:tbl>
          </a:graphicData>
        </a:graphic>
      </p:graphicFrame>
      <p:sp>
        <p:nvSpPr>
          <p:cNvPr id="5" name="Shape 2"/>
          <p:cNvSpPr/>
          <p:nvPr/>
        </p:nvSpPr>
        <p:spPr>
          <a:xfrm>
            <a:off x="9464040" y="1371600"/>
            <a:ext cx="2148840" cy="2743200"/>
          </a:xfrm>
          <a:prstGeom prst="roundRect">
            <a:avLst>
              <a:gd name="adj" fmla="val 2553"/>
            </a:avLst>
          </a:prstGeom>
          <a:solidFill>
            <a:srgbClr val="EEF3F8"/>
          </a:solidFill>
          <a:ln/>
          <a:effectLst>
            <a:outerShdw blurRad="63500" dist="25400" dir="5400000" algn="bl" rotWithShape="0">
              <a:srgbClr val="BBBBBB">
                <a:alpha val="35000"/>
              </a:srgbClr>
            </a:outerShdw>
          </a:effectLst>
        </p:spPr>
        <p:txBody>
          <a:bodyPr/>
          <a:lstStyle/>
          <a:p>
            <a:endParaRPr lang="en-US"/>
          </a:p>
        </p:txBody>
      </p:sp>
      <p:sp>
        <p:nvSpPr>
          <p:cNvPr id="6" name="Text 3"/>
          <p:cNvSpPr/>
          <p:nvPr/>
        </p:nvSpPr>
        <p:spPr>
          <a:xfrm>
            <a:off x="9665208" y="1389888"/>
            <a:ext cx="1746504" cy="2706624"/>
          </a:xfrm>
          <a:prstGeom prst="rect">
            <a:avLst/>
          </a:prstGeom>
          <a:noFill/>
          <a:ln/>
        </p:spPr>
        <p:txBody>
          <a:bodyPr wrap="square" lIns="0" tIns="0" rIns="0" bIns="0" rtlCol="0" anchor="ctr"/>
          <a:lstStyle/>
          <a:p>
            <a:pPr marL="0" indent="0" algn="just">
              <a:buNone/>
            </a:pPr>
            <a:r>
              <a:rPr lang="en-US" sz="1250" dirty="0">
                <a:solidFill>
                  <a:srgbClr val="1A2733"/>
                </a:solidFill>
                <a:latin typeface="Calibri" pitchFamily="34" charset="0"/>
                <a:ea typeface="Calibri" pitchFamily="34" charset="-122"/>
                <a:cs typeface="Calibri" pitchFamily="34" charset="-120"/>
              </a:rPr>
              <a:t>Điểm dòng tiền dương là tiền vào ròng trong tuần, âm là rút ra. Dòng tiền phân hóa rất mạnh: từ Tài nguyên hút mạnh nhất tới Dệt may bị rút mạnh nhất.</a:t>
            </a:r>
            <a:endParaRPr lang="en-US" sz="1250" dirty="0"/>
          </a:p>
        </p:txBody>
      </p:sp>
      <p:sp>
        <p:nvSpPr>
          <p:cNvPr id="7" name="Shape 4"/>
          <p:cNvSpPr/>
          <p:nvPr/>
        </p:nvSpPr>
        <p:spPr>
          <a:xfrm>
            <a:off x="9464040" y="4251960"/>
            <a:ext cx="2148840" cy="1280160"/>
          </a:xfrm>
          <a:prstGeom prst="roundRect">
            <a:avLst>
              <a:gd name="adj" fmla="val 4286"/>
            </a:avLst>
          </a:prstGeom>
          <a:solidFill>
            <a:srgbClr val="EEF3F8"/>
          </a:solidFill>
          <a:ln/>
          <a:effectLst>
            <a:outerShdw blurRad="63500" dist="25400" dir="5400000" algn="bl" rotWithShape="0">
              <a:srgbClr val="BBBBBB">
                <a:alpha val="35000"/>
              </a:srgbClr>
            </a:outerShdw>
          </a:effectLst>
        </p:spPr>
        <p:txBody>
          <a:bodyPr/>
          <a:lstStyle/>
          <a:p>
            <a:endParaRPr lang="en-US"/>
          </a:p>
        </p:txBody>
      </p:sp>
      <p:sp>
        <p:nvSpPr>
          <p:cNvPr id="8" name="Text 5"/>
          <p:cNvSpPr/>
          <p:nvPr/>
        </p:nvSpPr>
        <p:spPr>
          <a:xfrm>
            <a:off x="9665208" y="4270248"/>
            <a:ext cx="1746504" cy="1243584"/>
          </a:xfrm>
          <a:prstGeom prst="rect">
            <a:avLst/>
          </a:prstGeom>
          <a:noFill/>
          <a:ln/>
        </p:spPr>
        <p:txBody>
          <a:bodyPr wrap="square" lIns="0" tIns="0" rIns="0" bIns="0" rtlCol="0" anchor="ctr"/>
          <a:lstStyle/>
          <a:p>
            <a:pPr marL="0" indent="0" algn="just">
              <a:buNone/>
            </a:pPr>
            <a:r>
              <a:rPr lang="en-US" sz="1250" dirty="0">
                <a:solidFill>
                  <a:srgbClr val="1A2733"/>
                </a:solidFill>
                <a:latin typeface="Calibri" pitchFamily="34" charset="0"/>
                <a:ea typeface="Calibri" pitchFamily="34" charset="-122"/>
                <a:cs typeface="Calibri" pitchFamily="34" charset="-120"/>
              </a:rPr>
              <a:t>Kỹ thuật tuần theo thang AAA mạnh nhất đến C yếu nhất. Giá tính theo phần trăm thay đổi tuần, tháng, năm.</a:t>
            </a:r>
            <a:endParaRPr lang="en-US" sz="1250" dirty="0"/>
          </a:p>
        </p:txBody>
      </p:sp>
      <p:sp>
        <p:nvSpPr>
          <p:cNvPr id="4"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10" name="Text 7"/>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04 · NHẬN ĐỊNH</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Chỉ số tổng bị VIC chi phối</a:t>
            </a:r>
            <a:endParaRPr lang="en-US" sz="3000" dirty="0"/>
          </a:p>
        </p:txBody>
      </p:sp>
      <p:sp>
        <p:nvSpPr>
          <p:cNvPr id="4" name="Text 2"/>
          <p:cNvSpPr/>
          <p:nvPr/>
        </p:nvSpPr>
        <p:spPr>
          <a:xfrm>
            <a:off x="579120" y="5225195"/>
            <a:ext cx="11318966" cy="1179793"/>
          </a:xfrm>
          <a:prstGeom prst="rect">
            <a:avLst/>
          </a:prstGeom>
          <a:noFill/>
          <a:ln/>
        </p:spPr>
        <p:txBody>
          <a:bodyPr wrap="square" lIns="0" tIns="0" rIns="0" bIns="0" rtlCol="0" anchor="t"/>
          <a:lstStyle/>
          <a:p>
            <a:pPr marL="0" indent="0">
              <a:lnSpc>
                <a:spcPct val="118000"/>
              </a:lnSpc>
              <a:spcAft>
                <a:spcPts val="1000"/>
              </a:spcAft>
              <a:buNone/>
            </a:pPr>
            <a:r>
              <a:rPr lang="en-US" sz="1300" dirty="0">
                <a:solidFill>
                  <a:srgbClr val="1A2733"/>
                </a:solidFill>
                <a:latin typeface="Calibri" pitchFamily="34" charset="0"/>
                <a:ea typeface="Calibri" pitchFamily="34" charset="-122"/>
                <a:cs typeface="Calibri" pitchFamily="34" charset="-120"/>
              </a:rPr>
              <a:t>Nhìn vào chỉ số tổng, thị trường có vẻ chưa rẻ vì P/B ở vùng cao. Nhưng chỉ số tính theo vốn hóa bị VIC làm lệch: với P/B tới 11 lần và vốn hóa lớn nhất thị trường, một mình VIC đẩy mặt bằng P/B chung lên cao, trong khi mức định giá đó phản ánh kỳ vọng vào VinFast và hệ sinh thái chứ không phải giá trị sổ sách.</a:t>
            </a:r>
            <a:endParaRPr lang="en-US" sz="1300" dirty="0"/>
          </a:p>
          <a:p>
            <a:pPr marL="0" indent="0">
              <a:lnSpc>
                <a:spcPct val="118000"/>
              </a:lnSpc>
              <a:buNone/>
            </a:pPr>
            <a:r>
              <a:rPr lang="en-US" sz="1300" dirty="0">
                <a:solidFill>
                  <a:srgbClr val="1A2733"/>
                </a:solidFill>
                <a:latin typeface="Calibri" pitchFamily="34" charset="0"/>
                <a:ea typeface="Calibri" pitchFamily="34" charset="-122"/>
                <a:cs typeface="Calibri" pitchFamily="34" charset="-120"/>
              </a:rPr>
              <a:t>Sau khi loại nhóm Vingroup, định giá đảo chiều rõ rệt và rơi về vùng rất thấp so với ba năm qua. Riêng VIC quyết định gần như toàn bộ mức lệch; loại thêm VHM, VRE, VPL gần như không đổi. Phần lõi thị trường, khoảng 73% vốn hóa, đang định giá thấp gần sát các đáy chu kỳ.</a:t>
            </a:r>
            <a:endParaRPr lang="en-US" sz="1300" dirty="0"/>
          </a:p>
        </p:txBody>
      </p:sp>
      <p:sp>
        <p:nvSpPr>
          <p:cNvPr id="5" name="Text 3"/>
          <p:cNvSpPr/>
          <p:nvPr/>
        </p:nvSpPr>
        <p:spPr>
          <a:xfrm>
            <a:off x="579120" y="1165097"/>
            <a:ext cx="2828109" cy="36576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P/B toàn thị trường</a:t>
            </a:r>
            <a:endParaRPr lang="en-US" sz="1300" dirty="0"/>
          </a:p>
        </p:txBody>
      </p:sp>
      <p:sp>
        <p:nvSpPr>
          <p:cNvPr id="6" name="Shape 4"/>
          <p:cNvSpPr/>
          <p:nvPr/>
        </p:nvSpPr>
        <p:spPr>
          <a:xfrm>
            <a:off x="579120" y="1576576"/>
            <a:ext cx="1275422" cy="1449035"/>
          </a:xfrm>
          <a:prstGeom prst="roundRect">
            <a:avLst>
              <a:gd name="adj" fmla="val 5217"/>
            </a:avLst>
          </a:prstGeom>
          <a:solidFill>
            <a:srgbClr val="F8DEE5"/>
          </a:solidFill>
          <a:ln/>
        </p:spPr>
        <p:txBody>
          <a:bodyPr/>
          <a:lstStyle/>
          <a:p>
            <a:endParaRPr lang="en-US"/>
          </a:p>
        </p:txBody>
      </p:sp>
      <p:sp>
        <p:nvSpPr>
          <p:cNvPr id="7" name="Text 5"/>
          <p:cNvSpPr/>
          <p:nvPr/>
        </p:nvSpPr>
        <p:spPr>
          <a:xfrm>
            <a:off x="579120" y="1668017"/>
            <a:ext cx="1275422" cy="756018"/>
          </a:xfrm>
          <a:prstGeom prst="rect">
            <a:avLst/>
          </a:prstGeom>
          <a:noFill/>
          <a:ln/>
        </p:spPr>
        <p:txBody>
          <a:bodyPr wrap="square" lIns="0" tIns="0" rIns="0" bIns="0" rtlCol="0" anchor="ctr"/>
          <a:lstStyle/>
          <a:p>
            <a:pPr marL="0" indent="0" algn="ctr">
              <a:buNone/>
            </a:pPr>
            <a:r>
              <a:rPr lang="en-US" sz="2600" b="1" dirty="0">
                <a:solidFill>
                  <a:srgbClr val="C0143E"/>
                </a:solidFill>
                <a:latin typeface="Calibri" pitchFamily="34" charset="0"/>
                <a:ea typeface="Calibri" pitchFamily="34" charset="-122"/>
                <a:cs typeface="Calibri" pitchFamily="34" charset="-120"/>
              </a:rPr>
              <a:t>1,92</a:t>
            </a:r>
            <a:endParaRPr lang="en-US" sz="2600" dirty="0"/>
          </a:p>
        </p:txBody>
      </p:sp>
      <p:sp>
        <p:nvSpPr>
          <p:cNvPr id="8" name="Text 6"/>
          <p:cNvSpPr/>
          <p:nvPr/>
        </p:nvSpPr>
        <p:spPr>
          <a:xfrm>
            <a:off x="579120" y="2216657"/>
            <a:ext cx="1275422" cy="504012"/>
          </a:xfrm>
          <a:prstGeom prst="rect">
            <a:avLst/>
          </a:prstGeom>
          <a:noFill/>
          <a:ln/>
        </p:spPr>
        <p:txBody>
          <a:bodyPr wrap="square" lIns="0" tIns="0" rIns="0" bIns="0" rtlCol="0" anchor="ctr"/>
          <a:lstStyle/>
          <a:p>
            <a:pPr marL="0" indent="0" algn="ctr">
              <a:buNone/>
            </a:pPr>
            <a:r>
              <a:rPr lang="en-US" sz="1050" dirty="0">
                <a:solidFill>
                  <a:srgbClr val="6B7785"/>
                </a:solidFill>
                <a:latin typeface="Calibri" pitchFamily="34" charset="0"/>
                <a:ea typeface="Calibri" pitchFamily="34" charset="-122"/>
                <a:cs typeface="Calibri" pitchFamily="34" charset="-120"/>
              </a:rPr>
              <a:t>Gồm Vingroup</a:t>
            </a:r>
            <a:endParaRPr lang="en-US" sz="1050" dirty="0"/>
          </a:p>
        </p:txBody>
      </p:sp>
      <p:sp>
        <p:nvSpPr>
          <p:cNvPr id="9" name="Text 7"/>
          <p:cNvSpPr/>
          <p:nvPr/>
        </p:nvSpPr>
        <p:spPr>
          <a:xfrm>
            <a:off x="2069373" y="1576576"/>
            <a:ext cx="332719" cy="1449035"/>
          </a:xfrm>
          <a:prstGeom prst="rect">
            <a:avLst/>
          </a:prstGeom>
          <a:noFill/>
          <a:ln/>
        </p:spPr>
        <p:txBody>
          <a:bodyPr wrap="square" lIns="0" tIns="0" rIns="0" bIns="0" rtlCol="0" anchor="ctr"/>
          <a:lstStyle/>
          <a:p>
            <a:pPr marL="0" indent="0" algn="ctr">
              <a:buNone/>
            </a:pPr>
            <a:r>
              <a:rPr lang="en-US" sz="2600" b="1" dirty="0">
                <a:solidFill>
                  <a:srgbClr val="0E548F"/>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2618013" y="1576576"/>
            <a:ext cx="1275422" cy="1449035"/>
          </a:xfrm>
          <a:prstGeom prst="roundRect">
            <a:avLst>
              <a:gd name="adj" fmla="val 5217"/>
            </a:avLst>
          </a:prstGeom>
          <a:solidFill>
            <a:srgbClr val="E4F1E9"/>
          </a:solidFill>
          <a:ln/>
        </p:spPr>
        <p:txBody>
          <a:bodyPr/>
          <a:lstStyle/>
          <a:p>
            <a:endParaRPr lang="en-US"/>
          </a:p>
        </p:txBody>
      </p:sp>
      <p:sp>
        <p:nvSpPr>
          <p:cNvPr id="11" name="Text 9"/>
          <p:cNvSpPr/>
          <p:nvPr/>
        </p:nvSpPr>
        <p:spPr>
          <a:xfrm>
            <a:off x="2618013" y="1668017"/>
            <a:ext cx="1275422" cy="756018"/>
          </a:xfrm>
          <a:prstGeom prst="rect">
            <a:avLst/>
          </a:prstGeom>
          <a:noFill/>
          <a:ln/>
        </p:spPr>
        <p:txBody>
          <a:bodyPr wrap="square" lIns="0" tIns="0" rIns="0" bIns="0" rtlCol="0" anchor="ctr"/>
          <a:lstStyle/>
          <a:p>
            <a:pPr marL="0" indent="0" algn="ctr">
              <a:buNone/>
            </a:pPr>
            <a:r>
              <a:rPr lang="en-US" sz="2600" b="1" dirty="0">
                <a:solidFill>
                  <a:srgbClr val="1F7A4D"/>
                </a:solidFill>
                <a:latin typeface="Calibri" pitchFamily="34" charset="0"/>
                <a:ea typeface="Calibri" pitchFamily="34" charset="-122"/>
                <a:cs typeface="Calibri" pitchFamily="34" charset="-120"/>
              </a:rPr>
              <a:t>1,56</a:t>
            </a:r>
            <a:endParaRPr lang="en-US" sz="2600" dirty="0"/>
          </a:p>
        </p:txBody>
      </p:sp>
      <p:sp>
        <p:nvSpPr>
          <p:cNvPr id="12" name="Text 10"/>
          <p:cNvSpPr/>
          <p:nvPr/>
        </p:nvSpPr>
        <p:spPr>
          <a:xfrm>
            <a:off x="2618013" y="2216657"/>
            <a:ext cx="1275422" cy="504012"/>
          </a:xfrm>
          <a:prstGeom prst="rect">
            <a:avLst/>
          </a:prstGeom>
          <a:noFill/>
          <a:ln/>
        </p:spPr>
        <p:txBody>
          <a:bodyPr wrap="square" lIns="0" tIns="0" rIns="0" bIns="0" rtlCol="0" anchor="ctr"/>
          <a:lstStyle/>
          <a:p>
            <a:pPr marL="0" indent="0" algn="ctr">
              <a:buNone/>
            </a:pPr>
            <a:r>
              <a:rPr lang="en-US" sz="1050" dirty="0">
                <a:solidFill>
                  <a:srgbClr val="6B7785"/>
                </a:solidFill>
                <a:latin typeface="Calibri" pitchFamily="34" charset="0"/>
                <a:ea typeface="Calibri" pitchFamily="34" charset="-122"/>
                <a:cs typeface="Calibri" pitchFamily="34" charset="-120"/>
              </a:rPr>
              <a:t>Loại Vingroup</a:t>
            </a:r>
            <a:endParaRPr lang="en-US" sz="1050" dirty="0"/>
          </a:p>
        </p:txBody>
      </p:sp>
      <p:sp>
        <p:nvSpPr>
          <p:cNvPr id="13" name="Text 11"/>
          <p:cNvSpPr/>
          <p:nvPr/>
        </p:nvSpPr>
        <p:spPr>
          <a:xfrm>
            <a:off x="579120" y="3146197"/>
            <a:ext cx="2828109" cy="365760"/>
          </a:xfrm>
          <a:prstGeom prst="rect">
            <a:avLst/>
          </a:prstGeom>
          <a:noFill/>
          <a:ln/>
        </p:spPr>
        <p:txBody>
          <a:bodyPr wrap="square" lIns="0" tIns="0" rIns="0" bIns="0" rtlCol="0" anchor="ctr"/>
          <a:lstStyle/>
          <a:p>
            <a:r>
              <a:rPr lang="en-US" sz="1300" b="1" dirty="0">
                <a:solidFill>
                  <a:srgbClr val="0B3D6E"/>
                </a:solidFill>
                <a:latin typeface="Calibri" pitchFamily="34" charset="0"/>
                <a:ea typeface="Calibri" pitchFamily="34" charset="-122"/>
                <a:cs typeface="Calibri" pitchFamily="34" charset="-120"/>
              </a:rPr>
              <a:t>P/E </a:t>
            </a:r>
            <a:r>
              <a:rPr lang="en-US" sz="1300" b="1" dirty="0" err="1">
                <a:solidFill>
                  <a:srgbClr val="0B3D6E"/>
                </a:solidFill>
                <a:latin typeface="Calibri" pitchFamily="34" charset="0"/>
                <a:ea typeface="Calibri" pitchFamily="34" charset="-122"/>
                <a:cs typeface="Calibri" pitchFamily="34" charset="-120"/>
              </a:rPr>
              <a:t>toàn</a:t>
            </a:r>
            <a:r>
              <a:rPr lang="en-US" sz="1300" b="1" dirty="0">
                <a:solidFill>
                  <a:srgbClr val="0B3D6E"/>
                </a:solidFill>
                <a:latin typeface="Calibri" pitchFamily="34" charset="0"/>
                <a:ea typeface="Calibri" pitchFamily="34" charset="-122"/>
                <a:cs typeface="Calibri" pitchFamily="34" charset="-120"/>
              </a:rPr>
              <a:t> </a:t>
            </a:r>
            <a:r>
              <a:rPr lang="en-US" sz="1300" b="1" dirty="0" err="1">
                <a:solidFill>
                  <a:srgbClr val="0B3D6E"/>
                </a:solidFill>
                <a:latin typeface="Calibri" pitchFamily="34" charset="0"/>
                <a:ea typeface="Calibri" pitchFamily="34" charset="-122"/>
                <a:cs typeface="Calibri" pitchFamily="34" charset="-120"/>
              </a:rPr>
              <a:t>thị</a:t>
            </a:r>
            <a:r>
              <a:rPr lang="en-US" sz="1300" b="1" dirty="0">
                <a:solidFill>
                  <a:srgbClr val="0B3D6E"/>
                </a:solidFill>
                <a:latin typeface="Calibri" pitchFamily="34" charset="0"/>
                <a:ea typeface="Calibri" pitchFamily="34" charset="-122"/>
                <a:cs typeface="Calibri" pitchFamily="34" charset="-120"/>
              </a:rPr>
              <a:t> </a:t>
            </a:r>
            <a:r>
              <a:rPr lang="en-US" sz="1300" b="1" dirty="0" err="1">
                <a:solidFill>
                  <a:srgbClr val="0B3D6E"/>
                </a:solidFill>
                <a:latin typeface="Calibri" pitchFamily="34" charset="0"/>
                <a:ea typeface="Calibri" pitchFamily="34" charset="-122"/>
                <a:cs typeface="Calibri" pitchFamily="34" charset="-120"/>
              </a:rPr>
              <a:t>trường</a:t>
            </a:r>
            <a:endParaRPr lang="en-US" sz="1300" dirty="0"/>
          </a:p>
        </p:txBody>
      </p:sp>
      <p:sp>
        <p:nvSpPr>
          <p:cNvPr id="14" name="Shape 12"/>
          <p:cNvSpPr/>
          <p:nvPr/>
        </p:nvSpPr>
        <p:spPr>
          <a:xfrm>
            <a:off x="579120" y="3580921"/>
            <a:ext cx="1275422" cy="1425646"/>
          </a:xfrm>
          <a:prstGeom prst="roundRect">
            <a:avLst>
              <a:gd name="adj" fmla="val 5217"/>
            </a:avLst>
          </a:prstGeom>
          <a:solidFill>
            <a:srgbClr val="F8DEE5"/>
          </a:solidFill>
          <a:ln/>
        </p:spPr>
        <p:txBody>
          <a:bodyPr/>
          <a:lstStyle/>
          <a:p>
            <a:endParaRPr lang="en-US"/>
          </a:p>
        </p:txBody>
      </p:sp>
      <p:sp>
        <p:nvSpPr>
          <p:cNvPr id="15" name="Text 13"/>
          <p:cNvSpPr/>
          <p:nvPr/>
        </p:nvSpPr>
        <p:spPr>
          <a:xfrm>
            <a:off x="579120" y="3851272"/>
            <a:ext cx="1275422" cy="743815"/>
          </a:xfrm>
          <a:prstGeom prst="rect">
            <a:avLst/>
          </a:prstGeom>
          <a:noFill/>
          <a:ln/>
        </p:spPr>
        <p:txBody>
          <a:bodyPr wrap="square" lIns="0" tIns="0" rIns="0" bIns="0" rtlCol="0" anchor="ctr"/>
          <a:lstStyle/>
          <a:p>
            <a:pPr marL="0" indent="0" algn="ctr">
              <a:buNone/>
            </a:pPr>
            <a:r>
              <a:rPr lang="en-US" sz="2600" b="1" dirty="0">
                <a:solidFill>
                  <a:srgbClr val="C0143E"/>
                </a:solidFill>
                <a:latin typeface="Calibri" pitchFamily="34" charset="0"/>
                <a:ea typeface="Calibri" pitchFamily="34" charset="-122"/>
                <a:cs typeface="Calibri" pitchFamily="34" charset="-120"/>
              </a:rPr>
              <a:t>13,25</a:t>
            </a:r>
            <a:endParaRPr lang="en-US" sz="2600" dirty="0"/>
          </a:p>
        </p:txBody>
      </p:sp>
      <p:sp>
        <p:nvSpPr>
          <p:cNvPr id="16" name="Text 14"/>
          <p:cNvSpPr/>
          <p:nvPr/>
        </p:nvSpPr>
        <p:spPr>
          <a:xfrm>
            <a:off x="579120" y="4464970"/>
            <a:ext cx="1275422" cy="495877"/>
          </a:xfrm>
          <a:prstGeom prst="rect">
            <a:avLst/>
          </a:prstGeom>
          <a:noFill/>
          <a:ln/>
        </p:spPr>
        <p:txBody>
          <a:bodyPr wrap="square" lIns="0" tIns="0" rIns="0" bIns="0" rtlCol="0" anchor="ctr"/>
          <a:lstStyle/>
          <a:p>
            <a:pPr algn="ctr"/>
            <a:r>
              <a:rPr lang="en-US" sz="1050" dirty="0" err="1">
                <a:solidFill>
                  <a:srgbClr val="6B7785"/>
                </a:solidFill>
                <a:latin typeface="Calibri" pitchFamily="34" charset="0"/>
                <a:ea typeface="Calibri" pitchFamily="34" charset="-122"/>
                <a:cs typeface="Calibri" pitchFamily="34" charset="-120"/>
              </a:rPr>
              <a:t>Gồm</a:t>
            </a:r>
            <a:r>
              <a:rPr lang="en-US" sz="1050" dirty="0">
                <a:solidFill>
                  <a:srgbClr val="6B7785"/>
                </a:solidFill>
                <a:latin typeface="Calibri" pitchFamily="34" charset="0"/>
                <a:ea typeface="Calibri" pitchFamily="34" charset="-122"/>
                <a:cs typeface="Calibri" pitchFamily="34" charset="-120"/>
              </a:rPr>
              <a:t> Vingroup</a:t>
            </a:r>
            <a:endParaRPr lang="en-US" sz="1050" dirty="0"/>
          </a:p>
        </p:txBody>
      </p:sp>
      <p:sp>
        <p:nvSpPr>
          <p:cNvPr id="17" name="Text 15"/>
          <p:cNvSpPr/>
          <p:nvPr/>
        </p:nvSpPr>
        <p:spPr>
          <a:xfrm>
            <a:off x="2069373" y="3580921"/>
            <a:ext cx="332719" cy="1425646"/>
          </a:xfrm>
          <a:prstGeom prst="rect">
            <a:avLst/>
          </a:prstGeom>
          <a:noFill/>
          <a:ln/>
        </p:spPr>
        <p:txBody>
          <a:bodyPr wrap="square" lIns="0" tIns="0" rIns="0" bIns="0" rtlCol="0" anchor="ctr"/>
          <a:lstStyle/>
          <a:p>
            <a:pPr marL="0" indent="0" algn="ctr">
              <a:buNone/>
            </a:pPr>
            <a:r>
              <a:rPr lang="en-US" sz="2600" b="1" dirty="0">
                <a:solidFill>
                  <a:srgbClr val="0E548F"/>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2618013" y="3580921"/>
            <a:ext cx="1275422" cy="1425646"/>
          </a:xfrm>
          <a:prstGeom prst="roundRect">
            <a:avLst>
              <a:gd name="adj" fmla="val 5217"/>
            </a:avLst>
          </a:prstGeom>
          <a:solidFill>
            <a:srgbClr val="E4F1E9"/>
          </a:solidFill>
          <a:ln/>
        </p:spPr>
        <p:txBody>
          <a:bodyPr/>
          <a:lstStyle/>
          <a:p>
            <a:endParaRPr lang="en-US"/>
          </a:p>
        </p:txBody>
      </p:sp>
      <p:sp>
        <p:nvSpPr>
          <p:cNvPr id="19" name="Text 17"/>
          <p:cNvSpPr/>
          <p:nvPr/>
        </p:nvSpPr>
        <p:spPr>
          <a:xfrm>
            <a:off x="2618013" y="3851272"/>
            <a:ext cx="1275422" cy="743815"/>
          </a:xfrm>
          <a:prstGeom prst="rect">
            <a:avLst/>
          </a:prstGeom>
          <a:noFill/>
          <a:ln/>
        </p:spPr>
        <p:txBody>
          <a:bodyPr wrap="square" lIns="0" tIns="0" rIns="0" bIns="0" rtlCol="0" anchor="ctr"/>
          <a:lstStyle/>
          <a:p>
            <a:pPr marL="0" indent="0" algn="ctr">
              <a:buNone/>
            </a:pPr>
            <a:r>
              <a:rPr lang="en-US" sz="2600" b="1" dirty="0">
                <a:solidFill>
                  <a:srgbClr val="1F7A4D"/>
                </a:solidFill>
                <a:latin typeface="Calibri" pitchFamily="34" charset="0"/>
                <a:ea typeface="Calibri" pitchFamily="34" charset="-122"/>
                <a:cs typeface="Calibri" pitchFamily="34" charset="-120"/>
              </a:rPr>
              <a:t>10,95</a:t>
            </a:r>
            <a:endParaRPr lang="en-US" sz="2600" dirty="0"/>
          </a:p>
        </p:txBody>
      </p:sp>
      <p:sp>
        <p:nvSpPr>
          <p:cNvPr id="20" name="Text 18"/>
          <p:cNvSpPr/>
          <p:nvPr/>
        </p:nvSpPr>
        <p:spPr>
          <a:xfrm>
            <a:off x="2618013" y="4464970"/>
            <a:ext cx="1275422" cy="495877"/>
          </a:xfrm>
          <a:prstGeom prst="rect">
            <a:avLst/>
          </a:prstGeom>
          <a:noFill/>
          <a:ln/>
        </p:spPr>
        <p:txBody>
          <a:bodyPr wrap="square" lIns="0" tIns="0" rIns="0" bIns="0" rtlCol="0" anchor="ctr"/>
          <a:lstStyle/>
          <a:p>
            <a:pPr algn="ctr"/>
            <a:r>
              <a:rPr lang="en-US" sz="1050" dirty="0" err="1">
                <a:solidFill>
                  <a:srgbClr val="6B7785"/>
                </a:solidFill>
                <a:latin typeface="Calibri" pitchFamily="34" charset="0"/>
                <a:ea typeface="Calibri" pitchFamily="34" charset="-122"/>
                <a:cs typeface="Calibri" pitchFamily="34" charset="-120"/>
              </a:rPr>
              <a:t>Loại</a:t>
            </a:r>
            <a:r>
              <a:rPr lang="en-US" sz="1050" dirty="0">
                <a:solidFill>
                  <a:srgbClr val="6B7785"/>
                </a:solidFill>
                <a:latin typeface="Calibri" pitchFamily="34" charset="0"/>
                <a:ea typeface="Calibri" pitchFamily="34" charset="-122"/>
                <a:cs typeface="Calibri" pitchFamily="34" charset="-120"/>
              </a:rPr>
              <a:t> Vingroup</a:t>
            </a:r>
            <a:endParaRPr lang="en-US" sz="1050" dirty="0"/>
          </a:p>
        </p:txBody>
      </p:sp>
      <p:sp>
        <p:nvSpPr>
          <p:cNvPr id="23" name="Text 21"/>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24" name="Text 22"/>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9</a:t>
            </a:r>
            <a:endParaRPr lang="en-US" sz="900" dirty="0"/>
          </a:p>
        </p:txBody>
      </p:sp>
      <p:graphicFrame>
        <p:nvGraphicFramePr>
          <p:cNvPr id="26" name="Table 0">
            <a:extLst>
              <a:ext uri="{FF2B5EF4-FFF2-40B4-BE49-F238E27FC236}">
                <a16:creationId xmlns:a16="http://schemas.microsoft.com/office/drawing/2014/main" id="{E5CA8D7A-68B4-7FA4-62AB-B540DD1982EE}"/>
              </a:ext>
            </a:extLst>
          </p:cNvPr>
          <p:cNvGraphicFramePr>
            <a:graphicFrameLocks noGrp="1"/>
          </p:cNvGraphicFramePr>
          <p:nvPr>
            <p:extLst>
              <p:ext uri="{D42A27DB-BD31-4B8C-83A1-F6EECF244321}">
                <p14:modId xmlns:p14="http://schemas.microsoft.com/office/powerpoint/2010/main" val="1946404940"/>
              </p:ext>
            </p:extLst>
          </p:nvPr>
        </p:nvGraphicFramePr>
        <p:xfrm>
          <a:off x="4858444" y="1631182"/>
          <a:ext cx="6903569" cy="1911247"/>
        </p:xfrm>
        <a:graphic>
          <a:graphicData uri="http://schemas.openxmlformats.org/drawingml/2006/table">
            <a:tbl>
              <a:tblPr/>
              <a:tblGrid>
                <a:gridCol w="2928787">
                  <a:extLst>
                    <a:ext uri="{9D8B030D-6E8A-4147-A177-3AD203B41FA5}">
                      <a16:colId xmlns:a16="http://schemas.microsoft.com/office/drawing/2014/main" val="20000"/>
                    </a:ext>
                  </a:extLst>
                </a:gridCol>
                <a:gridCol w="1987391">
                  <a:extLst>
                    <a:ext uri="{9D8B030D-6E8A-4147-A177-3AD203B41FA5}">
                      <a16:colId xmlns:a16="http://schemas.microsoft.com/office/drawing/2014/main" val="20001"/>
                    </a:ext>
                  </a:extLst>
                </a:gridCol>
                <a:gridCol w="1987391">
                  <a:extLst>
                    <a:ext uri="{9D8B030D-6E8A-4147-A177-3AD203B41FA5}">
                      <a16:colId xmlns:a16="http://schemas.microsoft.com/office/drawing/2014/main" val="20002"/>
                    </a:ext>
                  </a:extLst>
                </a:gridCol>
              </a:tblGrid>
              <a:tr h="378955">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Chỉ tiêu</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Gồm ba trụ Vin</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Loại ba trụ Vin</a:t>
                      </a:r>
                      <a:endParaRPr lang="en-US" sz="1200" dirty="0">
                        <a:latin typeface="Calibri" charset="0"/>
                        <a:ea typeface="Calibri" charset="0"/>
                        <a:cs typeface="Calibri" charset="0"/>
                      </a:endParaRPr>
                    </a:p>
                  </a:txBody>
                  <a:tcPr marL="50800" marR="50800" marT="25400" marB="254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E548F"/>
                    </a:solidFill>
                  </a:tcPr>
                </a:tc>
                <a:extLst>
                  <a:ext uri="{0D108BD9-81ED-4DB2-BD59-A6C34878D82A}">
                    <a16:rowId xmlns:a16="http://schemas.microsoft.com/office/drawing/2014/main" val="10000"/>
                  </a:ext>
                </a:extLst>
              </a:tr>
              <a:tr h="383073">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P/E (lần)</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24,68</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12,66</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1"/>
                  </a:ext>
                </a:extLst>
              </a:tr>
              <a:tr h="383073">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P/B (lần)</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3,20</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2"/>
                  </a:ext>
                </a:extLst>
              </a:tr>
              <a:tr h="383073">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Vị trí P/E, 3 năm</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0143E"/>
                          </a:solidFill>
                          <a:latin typeface="Calibri" pitchFamily="34" charset="0"/>
                          <a:ea typeface="Calibri" pitchFamily="34" charset="-122"/>
                          <a:cs typeface="Calibri" pitchFamily="34" charset="-120"/>
                        </a:rPr>
                        <a:t>81%</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8DEE5"/>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3"/>
                  </a:ext>
                </a:extLst>
              </a:tr>
              <a:tr h="383073">
                <a:tc>
                  <a:txBody>
                    <a:bodyPr/>
                    <a:lstStyle/>
                    <a:p>
                      <a:pPr marL="0" indent="0" algn="l">
                        <a:buNone/>
                      </a:pPr>
                      <a:r>
                        <a:rPr lang="en-US" sz="1300" b="1" dirty="0">
                          <a:solidFill>
                            <a:srgbClr val="1A2733"/>
                          </a:solidFill>
                          <a:latin typeface="Calibri" pitchFamily="34" charset="0"/>
                          <a:ea typeface="Calibri" pitchFamily="34" charset="-122"/>
                          <a:cs typeface="Calibri" pitchFamily="34" charset="-120"/>
                        </a:rPr>
                        <a:t>Vị trí P/B, 3 năm</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EF3F8"/>
                    </a:solidFill>
                  </a:tcPr>
                </a:tc>
                <a:tc>
                  <a:txBody>
                    <a:bodyPr/>
                    <a:lstStyle/>
                    <a:p>
                      <a:pPr marL="0" indent="0" algn="ctr">
                        <a:buNone/>
                      </a:pPr>
                      <a:r>
                        <a:rPr lang="en-US" sz="1300" b="1" dirty="0">
                          <a:solidFill>
                            <a:srgbClr val="C0143E"/>
                          </a:solidFill>
                          <a:latin typeface="Calibri" pitchFamily="34" charset="0"/>
                          <a:ea typeface="Calibri" pitchFamily="34" charset="-122"/>
                          <a:cs typeface="Calibri" pitchFamily="34" charset="-120"/>
                        </a:rPr>
                        <a:t>94%</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8DEE5"/>
                    </a:solidFill>
                  </a:tcPr>
                </a:tc>
                <a:tc>
                  <a:txBody>
                    <a:bodyPr/>
                    <a:lstStyle/>
                    <a:p>
                      <a:pPr marL="0" indent="0" algn="ctr">
                        <a:buNone/>
                      </a:pPr>
                      <a:r>
                        <a:rPr lang="en-US" sz="1300" b="1" dirty="0">
                          <a:solidFill>
                            <a:srgbClr val="1F7A4D"/>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50800" marR="50800" marT="19050" marB="1905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4F1E9"/>
                    </a:solidFill>
                  </a:tcPr>
                </a:tc>
                <a:extLst>
                  <a:ext uri="{0D108BD9-81ED-4DB2-BD59-A6C34878D82A}">
                    <a16:rowId xmlns:a16="http://schemas.microsoft.com/office/drawing/2014/main" val="10004"/>
                  </a:ext>
                </a:extLst>
              </a:tr>
            </a:tbl>
          </a:graphicData>
        </a:graphic>
      </p:graphicFrame>
      <p:sp>
        <p:nvSpPr>
          <p:cNvPr id="28" name="Text 4">
            <a:extLst>
              <a:ext uri="{FF2B5EF4-FFF2-40B4-BE49-F238E27FC236}">
                <a16:creationId xmlns:a16="http://schemas.microsoft.com/office/drawing/2014/main" id="{7F0EDC74-E776-FCBC-4DCF-2BCA0BAD41D7}"/>
              </a:ext>
            </a:extLst>
          </p:cNvPr>
          <p:cNvSpPr/>
          <p:nvPr/>
        </p:nvSpPr>
        <p:spPr>
          <a:xfrm>
            <a:off x="4858444" y="3649927"/>
            <a:ext cx="3382191" cy="320040"/>
          </a:xfrm>
          <a:prstGeom prst="rect">
            <a:avLst/>
          </a:prstGeom>
          <a:noFill/>
          <a:ln/>
        </p:spPr>
        <p:txBody>
          <a:bodyPr wrap="square" lIns="0" tIns="0" rIns="0" bIns="0" rtlCol="0" anchor="ctr"/>
          <a:lstStyle/>
          <a:p>
            <a:pPr marL="0" indent="0">
              <a:buNone/>
            </a:pPr>
            <a:r>
              <a:rPr lang="en-US" sz="1300" b="1" dirty="0">
                <a:solidFill>
                  <a:srgbClr val="0B3D6E"/>
                </a:solidFill>
                <a:latin typeface="Calibri" pitchFamily="34" charset="0"/>
                <a:ea typeface="Calibri" pitchFamily="34" charset="-122"/>
                <a:cs typeface="Calibri" pitchFamily="34" charset="-120"/>
              </a:rPr>
              <a:t>Hệ số định giá từng mã Vingroup</a:t>
            </a:r>
            <a:endParaRPr lang="en-US" sz="1300" dirty="0"/>
          </a:p>
        </p:txBody>
      </p:sp>
      <p:sp>
        <p:nvSpPr>
          <p:cNvPr id="30" name="Shape 5">
            <a:extLst>
              <a:ext uri="{FF2B5EF4-FFF2-40B4-BE49-F238E27FC236}">
                <a16:creationId xmlns:a16="http://schemas.microsoft.com/office/drawing/2014/main" id="{BF4F313C-EC3E-41BD-458D-CDCF60636614}"/>
              </a:ext>
            </a:extLst>
          </p:cNvPr>
          <p:cNvSpPr/>
          <p:nvPr/>
        </p:nvSpPr>
        <p:spPr>
          <a:xfrm>
            <a:off x="4858444" y="4060706"/>
            <a:ext cx="3382191" cy="435477"/>
          </a:xfrm>
          <a:prstGeom prst="roundRect">
            <a:avLst>
              <a:gd name="adj" fmla="val 6944"/>
            </a:avLst>
          </a:prstGeom>
          <a:solidFill>
            <a:srgbClr val="EEF3F8"/>
          </a:solidFill>
          <a:ln/>
        </p:spPr>
        <p:txBody>
          <a:bodyPr/>
          <a:lstStyle/>
          <a:p>
            <a:endParaRPr lang="en-US"/>
          </a:p>
        </p:txBody>
      </p:sp>
      <p:sp>
        <p:nvSpPr>
          <p:cNvPr id="32" name="Text 6">
            <a:extLst>
              <a:ext uri="{FF2B5EF4-FFF2-40B4-BE49-F238E27FC236}">
                <a16:creationId xmlns:a16="http://schemas.microsoft.com/office/drawing/2014/main" id="{9B54A5D6-7E20-DE36-A801-61DDA53F2757}"/>
              </a:ext>
            </a:extLst>
          </p:cNvPr>
          <p:cNvSpPr/>
          <p:nvPr/>
        </p:nvSpPr>
        <p:spPr>
          <a:xfrm>
            <a:off x="4995604" y="4060706"/>
            <a:ext cx="729492" cy="435477"/>
          </a:xfrm>
          <a:prstGeom prst="rect">
            <a:avLst/>
          </a:prstGeom>
          <a:noFill/>
          <a:ln/>
        </p:spPr>
        <p:txBody>
          <a:bodyPr wrap="square" lIns="0" tIns="0" rIns="0" bIns="0" rtlCol="0" anchor="ctr"/>
          <a:lstStyle/>
          <a:p>
            <a:pPr marL="0" indent="0">
              <a:buNone/>
            </a:pPr>
            <a:r>
              <a:rPr lang="en-US" sz="1600" b="1" dirty="0">
                <a:solidFill>
                  <a:srgbClr val="0E548F"/>
                </a:solidFill>
                <a:latin typeface="Calibri" pitchFamily="34" charset="0"/>
                <a:ea typeface="Calibri" pitchFamily="34" charset="-122"/>
                <a:cs typeface="Calibri" pitchFamily="34" charset="-120"/>
              </a:rPr>
              <a:t>VIC</a:t>
            </a:r>
            <a:endParaRPr lang="en-US" sz="1600" dirty="0"/>
          </a:p>
        </p:txBody>
      </p:sp>
      <p:sp>
        <p:nvSpPr>
          <p:cNvPr id="34" name="Text 7">
            <a:extLst>
              <a:ext uri="{FF2B5EF4-FFF2-40B4-BE49-F238E27FC236}">
                <a16:creationId xmlns:a16="http://schemas.microsoft.com/office/drawing/2014/main" id="{5BD1A1D6-9B06-8C55-E88F-1734A71E0B8C}"/>
              </a:ext>
            </a:extLst>
          </p:cNvPr>
          <p:cNvSpPr/>
          <p:nvPr/>
        </p:nvSpPr>
        <p:spPr>
          <a:xfrm>
            <a:off x="6001444" y="4060706"/>
            <a:ext cx="2486905" cy="435477"/>
          </a:xfrm>
          <a:prstGeom prst="rect">
            <a:avLst/>
          </a:prstGeom>
          <a:noFill/>
          <a:ln/>
        </p:spPr>
        <p:txBody>
          <a:bodyPr wrap="square" lIns="0" tIns="0" rIns="0" bIns="0" rtlCol="0" anchor="ctr"/>
          <a:lstStyle/>
          <a:p>
            <a:pPr marL="0" indent="0">
              <a:buNone/>
            </a:pPr>
            <a:r>
              <a:rPr lang="en-US" sz="1200" dirty="0">
                <a:solidFill>
                  <a:srgbClr val="D71249"/>
                </a:solidFill>
                <a:latin typeface="Calibri" pitchFamily="34" charset="0"/>
                <a:ea typeface="Calibri" pitchFamily="34" charset="-122"/>
                <a:cs typeface="Calibri" pitchFamily="34" charset="-120"/>
              </a:rPr>
              <a:t>P/B 11,11  ·  vốn hóa 1,71 triệu tỷ</a:t>
            </a:r>
            <a:endParaRPr lang="en-US" sz="1200" dirty="0"/>
          </a:p>
        </p:txBody>
      </p:sp>
      <p:sp>
        <p:nvSpPr>
          <p:cNvPr id="36" name="Shape 8">
            <a:extLst>
              <a:ext uri="{FF2B5EF4-FFF2-40B4-BE49-F238E27FC236}">
                <a16:creationId xmlns:a16="http://schemas.microsoft.com/office/drawing/2014/main" id="{A018CC33-DCCF-7B68-31DA-D0E94315EBDE}"/>
              </a:ext>
            </a:extLst>
          </p:cNvPr>
          <p:cNvSpPr/>
          <p:nvPr/>
        </p:nvSpPr>
        <p:spPr>
          <a:xfrm>
            <a:off x="4858444" y="4603680"/>
            <a:ext cx="3382191" cy="435477"/>
          </a:xfrm>
          <a:prstGeom prst="roundRect">
            <a:avLst>
              <a:gd name="adj" fmla="val 6944"/>
            </a:avLst>
          </a:prstGeom>
          <a:solidFill>
            <a:srgbClr val="EEF3F8"/>
          </a:solidFill>
          <a:ln/>
        </p:spPr>
        <p:txBody>
          <a:bodyPr/>
          <a:lstStyle/>
          <a:p>
            <a:endParaRPr lang="en-US"/>
          </a:p>
        </p:txBody>
      </p:sp>
      <p:sp>
        <p:nvSpPr>
          <p:cNvPr id="38" name="Text 9">
            <a:extLst>
              <a:ext uri="{FF2B5EF4-FFF2-40B4-BE49-F238E27FC236}">
                <a16:creationId xmlns:a16="http://schemas.microsoft.com/office/drawing/2014/main" id="{A41A4787-77B7-F07A-08CA-C1C671D66555}"/>
              </a:ext>
            </a:extLst>
          </p:cNvPr>
          <p:cNvSpPr/>
          <p:nvPr/>
        </p:nvSpPr>
        <p:spPr>
          <a:xfrm>
            <a:off x="4995604" y="4613342"/>
            <a:ext cx="729492" cy="435477"/>
          </a:xfrm>
          <a:prstGeom prst="rect">
            <a:avLst/>
          </a:prstGeom>
          <a:noFill/>
          <a:ln/>
        </p:spPr>
        <p:txBody>
          <a:bodyPr wrap="square" lIns="0" tIns="0" rIns="0" bIns="0" rtlCol="0" anchor="ctr"/>
          <a:lstStyle/>
          <a:p>
            <a:pPr marL="0" indent="0">
              <a:buNone/>
            </a:pPr>
            <a:r>
              <a:rPr lang="en-US" sz="1600" b="1" dirty="0">
                <a:solidFill>
                  <a:srgbClr val="0E548F"/>
                </a:solidFill>
                <a:latin typeface="Calibri" pitchFamily="34" charset="0"/>
                <a:ea typeface="Calibri" pitchFamily="34" charset="-122"/>
                <a:cs typeface="Calibri" pitchFamily="34" charset="-120"/>
              </a:rPr>
              <a:t>VHM</a:t>
            </a:r>
            <a:endParaRPr lang="en-US" sz="1600" dirty="0"/>
          </a:p>
        </p:txBody>
      </p:sp>
      <p:sp>
        <p:nvSpPr>
          <p:cNvPr id="40" name="Text 10">
            <a:extLst>
              <a:ext uri="{FF2B5EF4-FFF2-40B4-BE49-F238E27FC236}">
                <a16:creationId xmlns:a16="http://schemas.microsoft.com/office/drawing/2014/main" id="{DB4F959D-35EB-E87B-EDE9-421B4B64FDFF}"/>
              </a:ext>
            </a:extLst>
          </p:cNvPr>
          <p:cNvSpPr/>
          <p:nvPr/>
        </p:nvSpPr>
        <p:spPr>
          <a:xfrm>
            <a:off x="6001444" y="4603680"/>
            <a:ext cx="2486905" cy="435477"/>
          </a:xfrm>
          <a:prstGeom prst="rect">
            <a:avLst/>
          </a:prstGeom>
          <a:noFill/>
          <a:ln/>
        </p:spPr>
        <p:txBody>
          <a:bodyPr wrap="square" lIns="0" tIns="0" rIns="0" bIns="0" rtlCol="0" anchor="ctr"/>
          <a:lstStyle/>
          <a:p>
            <a:pPr marL="0" indent="0">
              <a:buNone/>
            </a:pPr>
            <a:r>
              <a:rPr lang="en-US" sz="1200" dirty="0">
                <a:solidFill>
                  <a:srgbClr val="1A2733"/>
                </a:solidFill>
                <a:latin typeface="Calibri" pitchFamily="34" charset="0"/>
                <a:ea typeface="Calibri" pitchFamily="34" charset="-122"/>
                <a:cs typeface="Calibri" pitchFamily="34" charset="-120"/>
              </a:rPr>
              <a:t>P/B 2,12</a:t>
            </a:r>
            <a:endParaRPr lang="en-US" sz="1200" dirty="0"/>
          </a:p>
        </p:txBody>
      </p:sp>
      <p:sp>
        <p:nvSpPr>
          <p:cNvPr id="42" name="Shape 11">
            <a:extLst>
              <a:ext uri="{FF2B5EF4-FFF2-40B4-BE49-F238E27FC236}">
                <a16:creationId xmlns:a16="http://schemas.microsoft.com/office/drawing/2014/main" id="{73AAACF2-24E4-6BE2-08BA-D8F1446F56F7}"/>
              </a:ext>
            </a:extLst>
          </p:cNvPr>
          <p:cNvSpPr/>
          <p:nvPr/>
        </p:nvSpPr>
        <p:spPr>
          <a:xfrm>
            <a:off x="8379823" y="4059676"/>
            <a:ext cx="3382191" cy="435477"/>
          </a:xfrm>
          <a:prstGeom prst="roundRect">
            <a:avLst>
              <a:gd name="adj" fmla="val 6944"/>
            </a:avLst>
          </a:prstGeom>
          <a:solidFill>
            <a:srgbClr val="EEF3F8"/>
          </a:solidFill>
          <a:ln/>
        </p:spPr>
        <p:txBody>
          <a:bodyPr/>
          <a:lstStyle/>
          <a:p>
            <a:endParaRPr lang="en-US"/>
          </a:p>
        </p:txBody>
      </p:sp>
      <p:sp>
        <p:nvSpPr>
          <p:cNvPr id="44" name="Text 12">
            <a:extLst>
              <a:ext uri="{FF2B5EF4-FFF2-40B4-BE49-F238E27FC236}">
                <a16:creationId xmlns:a16="http://schemas.microsoft.com/office/drawing/2014/main" id="{FB25104A-E66E-6444-A4D6-2E93E5BE52D8}"/>
              </a:ext>
            </a:extLst>
          </p:cNvPr>
          <p:cNvSpPr/>
          <p:nvPr/>
        </p:nvSpPr>
        <p:spPr>
          <a:xfrm>
            <a:off x="8516983" y="4059676"/>
            <a:ext cx="729492" cy="435477"/>
          </a:xfrm>
          <a:prstGeom prst="rect">
            <a:avLst/>
          </a:prstGeom>
          <a:noFill/>
          <a:ln/>
        </p:spPr>
        <p:txBody>
          <a:bodyPr wrap="square" lIns="0" tIns="0" rIns="0" bIns="0" rtlCol="0" anchor="ctr"/>
          <a:lstStyle/>
          <a:p>
            <a:pPr marL="0" indent="0">
              <a:buNone/>
            </a:pPr>
            <a:r>
              <a:rPr lang="en-US" sz="1600" b="1" dirty="0">
                <a:solidFill>
                  <a:srgbClr val="0E548F"/>
                </a:solidFill>
                <a:latin typeface="Calibri" pitchFamily="34" charset="0"/>
                <a:ea typeface="Calibri" pitchFamily="34" charset="-122"/>
                <a:cs typeface="Calibri" pitchFamily="34" charset="-120"/>
              </a:rPr>
              <a:t>VRE</a:t>
            </a:r>
            <a:endParaRPr lang="en-US" sz="1600" dirty="0"/>
          </a:p>
        </p:txBody>
      </p:sp>
      <p:sp>
        <p:nvSpPr>
          <p:cNvPr id="46" name="Text 13">
            <a:extLst>
              <a:ext uri="{FF2B5EF4-FFF2-40B4-BE49-F238E27FC236}">
                <a16:creationId xmlns:a16="http://schemas.microsoft.com/office/drawing/2014/main" id="{F871C0FF-2146-FD2D-1FDA-7024511230DC}"/>
              </a:ext>
            </a:extLst>
          </p:cNvPr>
          <p:cNvSpPr/>
          <p:nvPr/>
        </p:nvSpPr>
        <p:spPr>
          <a:xfrm>
            <a:off x="9522823" y="4059676"/>
            <a:ext cx="2486905" cy="435477"/>
          </a:xfrm>
          <a:prstGeom prst="rect">
            <a:avLst/>
          </a:prstGeom>
          <a:noFill/>
          <a:ln/>
        </p:spPr>
        <p:txBody>
          <a:bodyPr wrap="square" lIns="0" tIns="0" rIns="0" bIns="0" rtlCol="0" anchor="ctr"/>
          <a:lstStyle/>
          <a:p>
            <a:pPr marL="0" indent="0">
              <a:buNone/>
            </a:pPr>
            <a:r>
              <a:rPr lang="en-US" sz="1200" dirty="0">
                <a:solidFill>
                  <a:srgbClr val="1A2733"/>
                </a:solidFill>
                <a:latin typeface="Calibri" pitchFamily="34" charset="0"/>
                <a:ea typeface="Calibri" pitchFamily="34" charset="-122"/>
                <a:cs typeface="Calibri" pitchFamily="34" charset="-120"/>
              </a:rPr>
              <a:t>P/B 1,12</a:t>
            </a:r>
            <a:endParaRPr lang="en-US" sz="1200" dirty="0"/>
          </a:p>
        </p:txBody>
      </p:sp>
      <p:sp>
        <p:nvSpPr>
          <p:cNvPr id="48" name="Shape 14">
            <a:extLst>
              <a:ext uri="{FF2B5EF4-FFF2-40B4-BE49-F238E27FC236}">
                <a16:creationId xmlns:a16="http://schemas.microsoft.com/office/drawing/2014/main" id="{06AF9F09-2174-3B95-AF69-903A771A32A7}"/>
              </a:ext>
            </a:extLst>
          </p:cNvPr>
          <p:cNvSpPr/>
          <p:nvPr/>
        </p:nvSpPr>
        <p:spPr>
          <a:xfrm>
            <a:off x="8379823" y="4602650"/>
            <a:ext cx="3382191" cy="435477"/>
          </a:xfrm>
          <a:prstGeom prst="roundRect">
            <a:avLst>
              <a:gd name="adj" fmla="val 6944"/>
            </a:avLst>
          </a:prstGeom>
          <a:solidFill>
            <a:srgbClr val="EEF3F8"/>
          </a:solidFill>
          <a:ln/>
        </p:spPr>
        <p:txBody>
          <a:bodyPr/>
          <a:lstStyle/>
          <a:p>
            <a:endParaRPr lang="en-US"/>
          </a:p>
        </p:txBody>
      </p:sp>
      <p:sp>
        <p:nvSpPr>
          <p:cNvPr id="50" name="Text 15">
            <a:extLst>
              <a:ext uri="{FF2B5EF4-FFF2-40B4-BE49-F238E27FC236}">
                <a16:creationId xmlns:a16="http://schemas.microsoft.com/office/drawing/2014/main" id="{26099F05-6E3E-E2A2-B1BE-728712D7CB18}"/>
              </a:ext>
            </a:extLst>
          </p:cNvPr>
          <p:cNvSpPr/>
          <p:nvPr/>
        </p:nvSpPr>
        <p:spPr>
          <a:xfrm>
            <a:off x="8516983" y="4602650"/>
            <a:ext cx="729492" cy="435477"/>
          </a:xfrm>
          <a:prstGeom prst="rect">
            <a:avLst/>
          </a:prstGeom>
          <a:noFill/>
          <a:ln/>
        </p:spPr>
        <p:txBody>
          <a:bodyPr wrap="square" lIns="0" tIns="0" rIns="0" bIns="0" rtlCol="0" anchor="ctr"/>
          <a:lstStyle/>
          <a:p>
            <a:pPr marL="0" indent="0">
              <a:buNone/>
            </a:pPr>
            <a:r>
              <a:rPr lang="en-US" sz="1600" b="1" dirty="0">
                <a:solidFill>
                  <a:srgbClr val="0E548F"/>
                </a:solidFill>
                <a:latin typeface="Calibri" pitchFamily="34" charset="0"/>
                <a:ea typeface="Calibri" pitchFamily="34" charset="-122"/>
                <a:cs typeface="Calibri" pitchFamily="34" charset="-120"/>
              </a:rPr>
              <a:t>VPL</a:t>
            </a:r>
            <a:endParaRPr lang="en-US" sz="1600" dirty="0"/>
          </a:p>
        </p:txBody>
      </p:sp>
      <p:sp>
        <p:nvSpPr>
          <p:cNvPr id="52" name="Text 16">
            <a:extLst>
              <a:ext uri="{FF2B5EF4-FFF2-40B4-BE49-F238E27FC236}">
                <a16:creationId xmlns:a16="http://schemas.microsoft.com/office/drawing/2014/main" id="{85E1D46D-1E65-8C7E-3BAF-0650958FC66D}"/>
              </a:ext>
            </a:extLst>
          </p:cNvPr>
          <p:cNvSpPr/>
          <p:nvPr/>
        </p:nvSpPr>
        <p:spPr>
          <a:xfrm>
            <a:off x="9522823" y="4602650"/>
            <a:ext cx="2486905" cy="435477"/>
          </a:xfrm>
          <a:prstGeom prst="rect">
            <a:avLst/>
          </a:prstGeom>
          <a:noFill/>
          <a:ln/>
        </p:spPr>
        <p:txBody>
          <a:bodyPr wrap="square" lIns="0" tIns="0" rIns="0" bIns="0" rtlCol="0" anchor="ctr"/>
          <a:lstStyle/>
          <a:p>
            <a:pPr marL="0" indent="0">
              <a:buNone/>
            </a:pPr>
            <a:r>
              <a:rPr lang="en-US" sz="1200" dirty="0">
                <a:solidFill>
                  <a:srgbClr val="1A2733"/>
                </a:solidFill>
                <a:latin typeface="Calibri" pitchFamily="34" charset="0"/>
                <a:ea typeface="Calibri" pitchFamily="34" charset="-122"/>
                <a:cs typeface="Calibri" pitchFamily="34" charset="-120"/>
              </a:rPr>
              <a:t>P/B 3,76  ·  ngành Du lịch Giải trí</a:t>
            </a:r>
            <a:endParaRPr lang="en-US" sz="1200" dirty="0"/>
          </a:p>
        </p:txBody>
      </p:sp>
      <p:sp>
        <p:nvSpPr>
          <p:cNvPr id="56" name="Text 4">
            <a:extLst>
              <a:ext uri="{FF2B5EF4-FFF2-40B4-BE49-F238E27FC236}">
                <a16:creationId xmlns:a16="http://schemas.microsoft.com/office/drawing/2014/main" id="{16C4C292-8186-E74C-17EC-B5CE6C5915D7}"/>
              </a:ext>
            </a:extLst>
          </p:cNvPr>
          <p:cNvSpPr/>
          <p:nvPr/>
        </p:nvSpPr>
        <p:spPr>
          <a:xfrm>
            <a:off x="4858444" y="1204675"/>
            <a:ext cx="3382191" cy="320040"/>
          </a:xfrm>
          <a:prstGeom prst="rect">
            <a:avLst/>
          </a:prstGeom>
          <a:noFill/>
          <a:ln/>
        </p:spPr>
        <p:txBody>
          <a:bodyPr wrap="square" lIns="0" tIns="0" rIns="0" bIns="0" rtlCol="0" anchor="ctr"/>
          <a:lstStyle/>
          <a:p>
            <a:pPr marL="0" indent="0">
              <a:buNone/>
            </a:pPr>
            <a:r>
              <a:rPr lang="en-US" sz="1300" b="1" dirty="0" err="1">
                <a:solidFill>
                  <a:srgbClr val="0B3D6E"/>
                </a:solidFill>
                <a:latin typeface="Calibri" pitchFamily="34" charset="0"/>
                <a:ea typeface="Calibri" pitchFamily="34" charset="-122"/>
                <a:cs typeface="Calibri" pitchFamily="34" charset="-120"/>
              </a:rPr>
              <a:t>Ngành</a:t>
            </a:r>
            <a:r>
              <a:rPr lang="en-US" sz="1300" b="1" dirty="0">
                <a:solidFill>
                  <a:srgbClr val="0B3D6E"/>
                </a:solidFill>
                <a:latin typeface="Calibri" pitchFamily="34" charset="0"/>
                <a:ea typeface="Calibri" pitchFamily="34" charset="-122"/>
                <a:cs typeface="Calibri" pitchFamily="34" charset="-120"/>
              </a:rPr>
              <a:t> </a:t>
            </a:r>
            <a:r>
              <a:rPr lang="en-US" sz="1300" b="1" dirty="0" err="1">
                <a:solidFill>
                  <a:srgbClr val="0B3D6E"/>
                </a:solidFill>
                <a:latin typeface="Calibri" pitchFamily="34" charset="0"/>
                <a:ea typeface="Calibri" pitchFamily="34" charset="-122"/>
                <a:cs typeface="Calibri" pitchFamily="34" charset="-120"/>
              </a:rPr>
              <a:t>bất</a:t>
            </a:r>
            <a:r>
              <a:rPr lang="en-US" sz="1300" b="1" dirty="0">
                <a:solidFill>
                  <a:srgbClr val="0B3D6E"/>
                </a:solidFill>
                <a:latin typeface="Calibri" pitchFamily="34" charset="0"/>
                <a:ea typeface="Calibri" pitchFamily="34" charset="-122"/>
                <a:cs typeface="Calibri" pitchFamily="34" charset="-120"/>
              </a:rPr>
              <a:t> </a:t>
            </a:r>
            <a:r>
              <a:rPr lang="en-US" sz="1300" b="1" dirty="0" err="1">
                <a:solidFill>
                  <a:srgbClr val="0B3D6E"/>
                </a:solidFill>
                <a:latin typeface="Calibri" pitchFamily="34" charset="0"/>
                <a:ea typeface="Calibri" pitchFamily="34" charset="-122"/>
                <a:cs typeface="Calibri" pitchFamily="34" charset="-120"/>
              </a:rPr>
              <a:t>động</a:t>
            </a:r>
            <a:r>
              <a:rPr lang="en-US" sz="1300" b="1" dirty="0">
                <a:solidFill>
                  <a:srgbClr val="0B3D6E"/>
                </a:solidFill>
                <a:latin typeface="Calibri" pitchFamily="34" charset="0"/>
                <a:ea typeface="Calibri" pitchFamily="34" charset="-122"/>
                <a:cs typeface="Calibri" pitchFamily="34" charset="-120"/>
              </a:rPr>
              <a:t> </a:t>
            </a:r>
            <a:r>
              <a:rPr lang="en-US" sz="1300" b="1" dirty="0" err="1">
                <a:solidFill>
                  <a:srgbClr val="0B3D6E"/>
                </a:solidFill>
                <a:latin typeface="Calibri" pitchFamily="34" charset="0"/>
                <a:ea typeface="Calibri" pitchFamily="34" charset="-122"/>
                <a:cs typeface="Calibri" pitchFamily="34" charset="-120"/>
              </a:rPr>
              <a:t>sản</a:t>
            </a:r>
            <a:r>
              <a:rPr lang="en-US" sz="1300" b="1" dirty="0">
                <a:solidFill>
                  <a:srgbClr val="0B3D6E"/>
                </a:solidFill>
                <a:latin typeface="Calibri" pitchFamily="34" charset="0"/>
                <a:ea typeface="Calibri" pitchFamily="34" charset="-122"/>
                <a:cs typeface="Calibri" pitchFamily="34" charset="-120"/>
              </a:rPr>
              <a:t> </a:t>
            </a:r>
            <a:r>
              <a:rPr lang="en-US" sz="1300" b="1" dirty="0" err="1">
                <a:solidFill>
                  <a:srgbClr val="0B3D6E"/>
                </a:solidFill>
                <a:latin typeface="Calibri" pitchFamily="34" charset="0"/>
                <a:ea typeface="Calibri" pitchFamily="34" charset="-122"/>
                <a:cs typeface="Calibri" pitchFamily="34" charset="-120"/>
              </a:rPr>
              <a:t>Dân</a:t>
            </a:r>
            <a:r>
              <a:rPr lang="en-US" sz="1300" b="1" dirty="0">
                <a:solidFill>
                  <a:srgbClr val="0B3D6E"/>
                </a:solidFill>
                <a:latin typeface="Calibri" pitchFamily="34" charset="0"/>
                <a:ea typeface="Calibri" pitchFamily="34" charset="-122"/>
                <a:cs typeface="Calibri" pitchFamily="34" charset="-120"/>
              </a:rPr>
              <a:t> </a:t>
            </a:r>
            <a:r>
              <a:rPr lang="en-US" sz="1300" b="1" dirty="0" err="1">
                <a:solidFill>
                  <a:srgbClr val="0B3D6E"/>
                </a:solidFill>
                <a:latin typeface="Calibri" pitchFamily="34" charset="0"/>
                <a:ea typeface="Calibri" pitchFamily="34" charset="-122"/>
                <a:cs typeface="Calibri" pitchFamily="34" charset="-120"/>
              </a:rPr>
              <a:t>dụng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04 · NHẬN ĐỊNH</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Ma trận định giá và dòng tiền: cơ hội hay bẫy</a:t>
            </a:r>
            <a:endParaRPr lang="en-US" sz="3000" dirty="0"/>
          </a:p>
        </p:txBody>
      </p:sp>
      <p:sp>
        <p:nvSpPr>
          <p:cNvPr id="4" name="Text 2"/>
          <p:cNvSpPr/>
          <p:nvPr/>
        </p:nvSpPr>
        <p:spPr>
          <a:xfrm rot="16200000">
            <a:off x="320040" y="3497580"/>
            <a:ext cx="1554480" cy="365760"/>
          </a:xfrm>
          <a:prstGeom prst="rect">
            <a:avLst/>
          </a:prstGeom>
          <a:noFill/>
          <a:ln/>
        </p:spPr>
        <p:txBody>
          <a:bodyPr wrap="square" lIns="0" tIns="0" rIns="0" bIns="0" rtlCol="0" anchor="ctr"/>
          <a:lstStyle/>
          <a:p>
            <a:pPr marL="0" indent="0" algn="ctr">
              <a:buNone/>
            </a:pPr>
            <a:r>
              <a:rPr lang="en-US" sz="1100" b="1" dirty="0">
                <a:solidFill>
                  <a:srgbClr val="0E548F"/>
                </a:solidFill>
                <a:latin typeface="Calibri" pitchFamily="34" charset="0"/>
                <a:ea typeface="Calibri" pitchFamily="34" charset="-122"/>
                <a:cs typeface="Calibri" pitchFamily="34" charset="-120"/>
              </a:rPr>
              <a:t>Định giá RẺ</a:t>
            </a:r>
            <a:endParaRPr lang="en-US" sz="1100" dirty="0"/>
          </a:p>
        </p:txBody>
      </p:sp>
      <p:sp>
        <p:nvSpPr>
          <p:cNvPr id="5" name="Text 3"/>
          <p:cNvSpPr/>
          <p:nvPr/>
        </p:nvSpPr>
        <p:spPr>
          <a:xfrm rot="16200000">
            <a:off x="320040" y="1783080"/>
            <a:ext cx="1554480" cy="365760"/>
          </a:xfrm>
          <a:prstGeom prst="rect">
            <a:avLst/>
          </a:prstGeom>
          <a:noFill/>
          <a:ln/>
        </p:spPr>
        <p:txBody>
          <a:bodyPr wrap="square" lIns="0" tIns="0" rIns="0" bIns="0" rtlCol="0" anchor="ctr"/>
          <a:lstStyle/>
          <a:p>
            <a:pPr marL="0" indent="0" algn="ctr">
              <a:buNone/>
            </a:pPr>
            <a:r>
              <a:rPr lang="en-US" sz="1100" b="1" dirty="0">
                <a:solidFill>
                  <a:srgbClr val="0E548F"/>
                </a:solidFill>
                <a:latin typeface="Calibri" pitchFamily="34" charset="0"/>
                <a:ea typeface="Calibri" pitchFamily="34" charset="-122"/>
                <a:cs typeface="Calibri" pitchFamily="34" charset="-120"/>
              </a:rPr>
              <a:t>Định giá ĐẮT</a:t>
            </a:r>
            <a:endParaRPr lang="en-US" sz="1100" dirty="0"/>
          </a:p>
        </p:txBody>
      </p:sp>
      <p:sp>
        <p:nvSpPr>
          <p:cNvPr id="6" name="Shape 4"/>
          <p:cNvSpPr/>
          <p:nvPr/>
        </p:nvSpPr>
        <p:spPr>
          <a:xfrm>
            <a:off x="1965960" y="1600200"/>
            <a:ext cx="4709160" cy="1965960"/>
          </a:xfrm>
          <a:prstGeom prst="roundRect">
            <a:avLst>
              <a:gd name="adj" fmla="val 2791"/>
            </a:avLst>
          </a:prstGeom>
          <a:solidFill>
            <a:srgbClr val="FBF3DF"/>
          </a:solidFill>
          <a:ln/>
        </p:spPr>
        <p:txBody>
          <a:bodyPr/>
          <a:lstStyle/>
          <a:p>
            <a:endParaRPr lang="en-US"/>
          </a:p>
        </p:txBody>
      </p:sp>
      <p:sp>
        <p:nvSpPr>
          <p:cNvPr id="7" name="Text 5"/>
          <p:cNvSpPr/>
          <p:nvPr/>
        </p:nvSpPr>
        <p:spPr>
          <a:xfrm>
            <a:off x="2148840" y="1709928"/>
            <a:ext cx="4343400" cy="365760"/>
          </a:xfrm>
          <a:prstGeom prst="rect">
            <a:avLst/>
          </a:prstGeom>
          <a:noFill/>
          <a:ln/>
        </p:spPr>
        <p:txBody>
          <a:bodyPr wrap="square" lIns="0" tIns="0" rIns="0" bIns="0" rtlCol="0" anchor="ctr"/>
          <a:lstStyle/>
          <a:p>
            <a:pPr marL="0" indent="0">
              <a:buNone/>
            </a:pPr>
            <a:r>
              <a:rPr lang="en-US" sz="1350" b="1" dirty="0">
                <a:solidFill>
                  <a:srgbClr val="9A7B1E"/>
                </a:solidFill>
                <a:latin typeface="Calibri" pitchFamily="34" charset="0"/>
                <a:ea typeface="Calibri" pitchFamily="34" charset="-122"/>
                <a:cs typeface="Calibri" pitchFamily="34" charset="-120"/>
              </a:rPr>
              <a:t>Đắt · tiền vào  (rủi ro đuổi giá)</a:t>
            </a:r>
            <a:endParaRPr lang="en-US" sz="1350" dirty="0"/>
          </a:p>
        </p:txBody>
      </p:sp>
      <p:sp>
        <p:nvSpPr>
          <p:cNvPr id="8" name="Text 6"/>
          <p:cNvSpPr/>
          <p:nvPr/>
        </p:nvSpPr>
        <p:spPr>
          <a:xfrm>
            <a:off x="2148840" y="2103120"/>
            <a:ext cx="4343400" cy="1325880"/>
          </a:xfrm>
          <a:prstGeom prst="rect">
            <a:avLst/>
          </a:prstGeom>
          <a:noFill/>
          <a:ln/>
        </p:spPr>
        <p:txBody>
          <a:bodyPr wrap="square" lIns="0" tIns="0" rIns="0" bIns="0" rtlCol="0" anchor="t"/>
          <a:lstStyle/>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Tài nguyên cơ bản</a:t>
            </a:r>
            <a:endParaRPr lang="en-US" sz="1200" dirty="0"/>
          </a:p>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Dịch vụ Dầu khí</a:t>
            </a:r>
            <a:endParaRPr lang="en-US" sz="1200" dirty="0"/>
          </a:p>
        </p:txBody>
      </p:sp>
      <p:sp>
        <p:nvSpPr>
          <p:cNvPr id="9" name="Shape 7"/>
          <p:cNvSpPr/>
          <p:nvPr/>
        </p:nvSpPr>
        <p:spPr>
          <a:xfrm>
            <a:off x="6903720" y="1600200"/>
            <a:ext cx="4709160" cy="1965960"/>
          </a:xfrm>
          <a:prstGeom prst="roundRect">
            <a:avLst>
              <a:gd name="adj" fmla="val 2791"/>
            </a:avLst>
          </a:prstGeom>
          <a:solidFill>
            <a:srgbClr val="F2F2F2"/>
          </a:solidFill>
          <a:ln/>
        </p:spPr>
        <p:txBody>
          <a:bodyPr/>
          <a:lstStyle/>
          <a:p>
            <a:endParaRPr lang="en-US"/>
          </a:p>
        </p:txBody>
      </p:sp>
      <p:sp>
        <p:nvSpPr>
          <p:cNvPr id="10" name="Text 8"/>
          <p:cNvSpPr/>
          <p:nvPr/>
        </p:nvSpPr>
        <p:spPr>
          <a:xfrm>
            <a:off x="7086600" y="1709928"/>
            <a:ext cx="4343400" cy="365760"/>
          </a:xfrm>
          <a:prstGeom prst="rect">
            <a:avLst/>
          </a:prstGeom>
          <a:noFill/>
          <a:ln/>
        </p:spPr>
        <p:txBody>
          <a:bodyPr wrap="square" lIns="0" tIns="0" rIns="0" bIns="0" rtlCol="0" anchor="ctr"/>
          <a:lstStyle/>
          <a:p>
            <a:pPr marL="0" indent="0">
              <a:buNone/>
            </a:pPr>
            <a:r>
              <a:rPr lang="en-US" sz="1350" b="1" dirty="0">
                <a:solidFill>
                  <a:srgbClr val="6B7785"/>
                </a:solidFill>
                <a:latin typeface="Calibri" pitchFamily="34" charset="0"/>
                <a:ea typeface="Calibri" pitchFamily="34" charset="-122"/>
                <a:cs typeface="Calibri" pitchFamily="34" charset="-120"/>
              </a:rPr>
              <a:t>Đắt · tiền ra</a:t>
            </a:r>
            <a:endParaRPr lang="en-US" sz="1350" dirty="0"/>
          </a:p>
        </p:txBody>
      </p:sp>
      <p:sp>
        <p:nvSpPr>
          <p:cNvPr id="11" name="Text 9"/>
          <p:cNvSpPr/>
          <p:nvPr/>
        </p:nvSpPr>
        <p:spPr>
          <a:xfrm>
            <a:off x="7086600" y="2103120"/>
            <a:ext cx="4343400" cy="1325880"/>
          </a:xfrm>
          <a:prstGeom prst="rect">
            <a:avLst/>
          </a:prstGeom>
          <a:noFill/>
          <a:ln/>
        </p:spPr>
        <p:txBody>
          <a:bodyPr wrap="square" lIns="0" tIns="0" rIns="0" bIns="0" rtlCol="0" anchor="t"/>
          <a:lstStyle/>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Không có ngành nổi bật</a:t>
            </a:r>
            <a:endParaRPr lang="en-US" sz="1200" dirty="0"/>
          </a:p>
        </p:txBody>
      </p:sp>
      <p:sp>
        <p:nvSpPr>
          <p:cNvPr id="12" name="Shape 10"/>
          <p:cNvSpPr/>
          <p:nvPr/>
        </p:nvSpPr>
        <p:spPr>
          <a:xfrm>
            <a:off x="1965960" y="3794760"/>
            <a:ext cx="4709160" cy="1965960"/>
          </a:xfrm>
          <a:prstGeom prst="roundRect">
            <a:avLst>
              <a:gd name="adj" fmla="val 2791"/>
            </a:avLst>
          </a:prstGeom>
          <a:solidFill>
            <a:srgbClr val="E4F1E9"/>
          </a:solidFill>
          <a:ln/>
        </p:spPr>
        <p:txBody>
          <a:bodyPr/>
          <a:lstStyle/>
          <a:p>
            <a:endParaRPr lang="en-US"/>
          </a:p>
        </p:txBody>
      </p:sp>
      <p:sp>
        <p:nvSpPr>
          <p:cNvPr id="13" name="Text 11"/>
          <p:cNvSpPr/>
          <p:nvPr/>
        </p:nvSpPr>
        <p:spPr>
          <a:xfrm>
            <a:off x="2148840" y="3904488"/>
            <a:ext cx="4343400" cy="365760"/>
          </a:xfrm>
          <a:prstGeom prst="rect">
            <a:avLst/>
          </a:prstGeom>
          <a:noFill/>
          <a:ln/>
        </p:spPr>
        <p:txBody>
          <a:bodyPr wrap="square" lIns="0" tIns="0" rIns="0" bIns="0" rtlCol="0" anchor="ctr"/>
          <a:lstStyle/>
          <a:p>
            <a:pPr marL="0" indent="0">
              <a:buNone/>
            </a:pPr>
            <a:r>
              <a:rPr lang="en-US" sz="1350" b="1" dirty="0">
                <a:solidFill>
                  <a:srgbClr val="1F7A4D"/>
                </a:solidFill>
                <a:latin typeface="Calibri" pitchFamily="34" charset="0"/>
                <a:ea typeface="Calibri" pitchFamily="34" charset="-122"/>
                <a:cs typeface="Calibri" pitchFamily="34" charset="-120"/>
              </a:rPr>
              <a:t>Rẻ · tiền vào  (đáng chú ý)</a:t>
            </a:r>
            <a:endParaRPr lang="en-US" sz="1350" dirty="0"/>
          </a:p>
        </p:txBody>
      </p:sp>
      <p:sp>
        <p:nvSpPr>
          <p:cNvPr id="14" name="Text 12"/>
          <p:cNvSpPr/>
          <p:nvPr/>
        </p:nvSpPr>
        <p:spPr>
          <a:xfrm>
            <a:off x="2148840" y="4297680"/>
            <a:ext cx="4343400" cy="1325880"/>
          </a:xfrm>
          <a:prstGeom prst="rect">
            <a:avLst/>
          </a:prstGeom>
          <a:noFill/>
          <a:ln/>
        </p:spPr>
        <p:txBody>
          <a:bodyPr wrap="square" lIns="0" tIns="0" rIns="0" bIns="0" rtlCol="0" anchor="t"/>
          <a:lstStyle/>
          <a:p>
            <a:pPr marL="0" indent="0">
              <a:lnSpc>
                <a:spcPct val="110000"/>
              </a:lnSpc>
              <a:buNone/>
            </a:pPr>
            <a:r>
              <a:rPr lang="en-US" sz="1200">
                <a:solidFill>
                  <a:srgbClr val="1A2733"/>
                </a:solidFill>
                <a:latin typeface="Calibri" pitchFamily="34" charset="0"/>
                <a:ea typeface="Calibri" pitchFamily="34" charset="-122"/>
                <a:cs typeface="Calibri" pitchFamily="34" charset="-120"/>
              </a:rPr>
              <a:t>BĐS </a:t>
            </a:r>
            <a:r>
              <a:rPr lang="en-US" sz="1200" dirty="0">
                <a:solidFill>
                  <a:srgbClr val="1A2733"/>
                </a:solidFill>
                <a:latin typeface="Calibri" pitchFamily="34" charset="0"/>
                <a:ea typeface="Calibri" pitchFamily="34" charset="-122"/>
                <a:cs typeface="Calibri" pitchFamily="34" charset="-120"/>
              </a:rPr>
              <a:t>Khu công nghiệp</a:t>
            </a:r>
            <a:endParaRPr lang="en-US" sz="1200" dirty="0"/>
          </a:p>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BĐS nhà ở (loại Vin)</a:t>
            </a:r>
            <a:endParaRPr lang="en-US" sz="1200" dirty="0"/>
          </a:p>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Ngân hàng · Bán lẻ</a:t>
            </a:r>
            <a:endParaRPr lang="en-US" sz="1200" dirty="0"/>
          </a:p>
        </p:txBody>
      </p:sp>
      <p:sp>
        <p:nvSpPr>
          <p:cNvPr id="15" name="Shape 13"/>
          <p:cNvSpPr/>
          <p:nvPr/>
        </p:nvSpPr>
        <p:spPr>
          <a:xfrm>
            <a:off x="6903720" y="3794760"/>
            <a:ext cx="4709160" cy="1965960"/>
          </a:xfrm>
          <a:prstGeom prst="roundRect">
            <a:avLst>
              <a:gd name="adj" fmla="val 2791"/>
            </a:avLst>
          </a:prstGeom>
          <a:solidFill>
            <a:srgbClr val="F8DEE5"/>
          </a:solidFill>
          <a:ln/>
        </p:spPr>
        <p:txBody>
          <a:bodyPr/>
          <a:lstStyle/>
          <a:p>
            <a:endParaRPr lang="en-US"/>
          </a:p>
        </p:txBody>
      </p:sp>
      <p:sp>
        <p:nvSpPr>
          <p:cNvPr id="16" name="Text 14"/>
          <p:cNvSpPr/>
          <p:nvPr/>
        </p:nvSpPr>
        <p:spPr>
          <a:xfrm>
            <a:off x="7086600" y="3904488"/>
            <a:ext cx="4343400" cy="365760"/>
          </a:xfrm>
          <a:prstGeom prst="rect">
            <a:avLst/>
          </a:prstGeom>
          <a:noFill/>
          <a:ln/>
        </p:spPr>
        <p:txBody>
          <a:bodyPr wrap="square" lIns="0" tIns="0" rIns="0" bIns="0" rtlCol="0" anchor="ctr"/>
          <a:lstStyle/>
          <a:p>
            <a:pPr marL="0" indent="0">
              <a:buNone/>
            </a:pPr>
            <a:r>
              <a:rPr lang="en-US" sz="1350" b="1" dirty="0">
                <a:solidFill>
                  <a:srgbClr val="C0143E"/>
                </a:solidFill>
                <a:latin typeface="Calibri" pitchFamily="34" charset="0"/>
                <a:ea typeface="Calibri" pitchFamily="34" charset="-122"/>
                <a:cs typeface="Calibri" pitchFamily="34" charset="-120"/>
              </a:rPr>
              <a:t>Rẻ · tiền </a:t>
            </a:r>
            <a:r>
              <a:rPr lang="en-US" sz="1350" b="1">
                <a:solidFill>
                  <a:srgbClr val="C0143E"/>
                </a:solidFill>
                <a:latin typeface="Calibri" pitchFamily="34" charset="0"/>
                <a:ea typeface="Calibri" pitchFamily="34" charset="-122"/>
                <a:cs typeface="Calibri" pitchFamily="34" charset="-120"/>
              </a:rPr>
              <a:t>ra  (rủi ro, </a:t>
            </a:r>
            <a:r>
              <a:rPr lang="en-US" sz="1350" b="1" dirty="0">
                <a:solidFill>
                  <a:srgbClr val="C0143E"/>
                </a:solidFill>
                <a:latin typeface="Calibri" pitchFamily="34" charset="0"/>
                <a:ea typeface="Calibri" pitchFamily="34" charset="-122"/>
                <a:cs typeface="Calibri" pitchFamily="34" charset="-120"/>
              </a:rPr>
              <a:t>cần chờ)</a:t>
            </a:r>
            <a:endParaRPr lang="en-US" sz="1350" dirty="0"/>
          </a:p>
        </p:txBody>
      </p:sp>
      <p:sp>
        <p:nvSpPr>
          <p:cNvPr id="17" name="Text 15"/>
          <p:cNvSpPr/>
          <p:nvPr/>
        </p:nvSpPr>
        <p:spPr>
          <a:xfrm>
            <a:off x="7086600" y="4297680"/>
            <a:ext cx="4343400" cy="1325880"/>
          </a:xfrm>
          <a:prstGeom prst="rect">
            <a:avLst/>
          </a:prstGeom>
          <a:noFill/>
          <a:ln/>
        </p:spPr>
        <p:txBody>
          <a:bodyPr wrap="square" lIns="0" tIns="0" rIns="0" bIns="0" rtlCol="0" anchor="t"/>
          <a:lstStyle/>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Dệt may · Thủy sản</a:t>
            </a:r>
            <a:endParaRPr lang="en-US" sz="1200" dirty="0"/>
          </a:p>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Vận tải · Kim loại</a:t>
            </a:r>
            <a:endParaRPr lang="en-US" sz="1200" dirty="0"/>
          </a:p>
          <a:p>
            <a:pPr marL="0" indent="0">
              <a:lnSpc>
                <a:spcPct val="110000"/>
              </a:lnSpc>
              <a:buNone/>
            </a:pPr>
            <a:r>
              <a:rPr lang="en-US" sz="1200" dirty="0">
                <a:solidFill>
                  <a:srgbClr val="1A2733"/>
                </a:solidFill>
                <a:latin typeface="Calibri" pitchFamily="34" charset="0"/>
                <a:ea typeface="Calibri" pitchFamily="34" charset="-122"/>
                <a:cs typeface="Calibri" pitchFamily="34" charset="-120"/>
              </a:rPr>
              <a:t>Công nghệ Viễn thông</a:t>
            </a:r>
            <a:endParaRPr lang="en-US" sz="1200" dirty="0"/>
          </a:p>
        </p:txBody>
      </p:sp>
      <p:sp>
        <p:nvSpPr>
          <p:cNvPr id="18" name="Text 16"/>
          <p:cNvSpPr/>
          <p:nvPr/>
        </p:nvSpPr>
        <p:spPr>
          <a:xfrm>
            <a:off x="1965960" y="5852160"/>
            <a:ext cx="4709160" cy="320040"/>
          </a:xfrm>
          <a:prstGeom prst="rect">
            <a:avLst/>
          </a:prstGeom>
          <a:noFill/>
          <a:ln/>
        </p:spPr>
        <p:txBody>
          <a:bodyPr wrap="square" lIns="0" tIns="0" rIns="0" bIns="0" rtlCol="0" anchor="ctr"/>
          <a:lstStyle/>
          <a:p>
            <a:pPr marL="0" indent="0" algn="ctr">
              <a:buNone/>
            </a:pPr>
            <a:r>
              <a:rPr lang="en-US" sz="1100" b="1" dirty="0">
                <a:solidFill>
                  <a:srgbClr val="0E548F"/>
                </a:solidFill>
                <a:latin typeface="Calibri" pitchFamily="34" charset="0"/>
                <a:ea typeface="Calibri" pitchFamily="34" charset="-122"/>
                <a:cs typeface="Calibri" pitchFamily="34" charset="-120"/>
              </a:rPr>
              <a:t>Tiền RA  ←</a:t>
            </a:r>
            <a:endParaRPr lang="en-US" sz="1100" dirty="0"/>
          </a:p>
        </p:txBody>
      </p:sp>
      <p:sp>
        <p:nvSpPr>
          <p:cNvPr id="19" name="Text 17"/>
          <p:cNvSpPr/>
          <p:nvPr/>
        </p:nvSpPr>
        <p:spPr>
          <a:xfrm>
            <a:off x="6903720" y="5852160"/>
            <a:ext cx="4709160" cy="320040"/>
          </a:xfrm>
          <a:prstGeom prst="rect">
            <a:avLst/>
          </a:prstGeom>
          <a:noFill/>
          <a:ln/>
        </p:spPr>
        <p:txBody>
          <a:bodyPr wrap="square" lIns="0" tIns="0" rIns="0" bIns="0" rtlCol="0" anchor="ctr"/>
          <a:lstStyle/>
          <a:p>
            <a:pPr marL="0" indent="0" algn="ctr">
              <a:buNone/>
            </a:pPr>
            <a:r>
              <a:rPr lang="en-US" sz="1100" b="1" dirty="0">
                <a:solidFill>
                  <a:srgbClr val="0E548F"/>
                </a:solidFill>
                <a:latin typeface="Calibri" pitchFamily="34" charset="0"/>
                <a:ea typeface="Calibri" pitchFamily="34" charset="-122"/>
                <a:cs typeface="Calibri" pitchFamily="34" charset="-120"/>
              </a:rPr>
              <a:t>→  Tiền VÀO</a:t>
            </a:r>
            <a:endParaRPr lang="en-US" sz="1100" dirty="0"/>
          </a:p>
        </p:txBody>
      </p:sp>
      <p:sp>
        <p:nvSpPr>
          <p:cNvPr id="20" name="Text 18"/>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21" name="Text 19"/>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04 · NHẬN ĐỊNH</a:t>
            </a:r>
            <a:endParaRPr lang="en-US" sz="1200" dirty="0">
              <a:solidFill>
                <a:srgbClr val="C00000"/>
              </a:solidFill>
            </a:endParaRPr>
          </a:p>
        </p:txBody>
      </p:sp>
      <p:sp>
        <p:nvSpPr>
          <p:cNvPr id="3" name="Text 1"/>
          <p:cNvSpPr/>
          <p:nvPr/>
        </p:nvSpPr>
        <p:spPr>
          <a:xfrm>
            <a:off x="548640" y="658368"/>
            <a:ext cx="11064240" cy="548640"/>
          </a:xfrm>
          <a:prstGeom prst="rect">
            <a:avLst/>
          </a:prstGeom>
          <a:noFill/>
          <a:ln/>
        </p:spPr>
        <p:txBody>
          <a:bodyPr wrap="square" lIns="0" tIns="0" rIns="0" bIns="0" rtlCol="0" anchor="ctr"/>
          <a:lstStyle/>
          <a:p>
            <a:pPr marL="0" indent="0">
              <a:buNone/>
            </a:pPr>
            <a:r>
              <a:rPr lang="en-US" sz="3000" b="1" dirty="0">
                <a:solidFill>
                  <a:srgbClr val="0B3D6E"/>
                </a:solidFill>
                <a:latin typeface="Calibri" pitchFamily="34" charset="0"/>
                <a:ea typeface="Calibri" pitchFamily="34" charset="-122"/>
                <a:cs typeface="Calibri" pitchFamily="34" charset="-120"/>
              </a:rPr>
              <a:t>Nhóm đáng quan tâm và nhóm cần thận trọng</a:t>
            </a:r>
            <a:endParaRPr lang="en-US" sz="3000" dirty="0"/>
          </a:p>
        </p:txBody>
      </p:sp>
      <p:sp>
        <p:nvSpPr>
          <p:cNvPr id="4" name="Shape 2"/>
          <p:cNvSpPr/>
          <p:nvPr/>
        </p:nvSpPr>
        <p:spPr>
          <a:xfrm>
            <a:off x="548640" y="1417320"/>
            <a:ext cx="5486400" cy="4160520"/>
          </a:xfrm>
          <a:prstGeom prst="roundRect">
            <a:avLst>
              <a:gd name="adj" fmla="val 1319"/>
            </a:avLst>
          </a:prstGeom>
          <a:solidFill>
            <a:srgbClr val="E4F1E9"/>
          </a:solidFill>
          <a:ln/>
        </p:spPr>
        <p:txBody>
          <a:bodyPr/>
          <a:lstStyle/>
          <a:p>
            <a:endParaRPr lang="en-US"/>
          </a:p>
        </p:txBody>
      </p:sp>
      <p:sp>
        <p:nvSpPr>
          <p:cNvPr id="5" name="Text 3"/>
          <p:cNvSpPr/>
          <p:nvPr/>
        </p:nvSpPr>
        <p:spPr>
          <a:xfrm>
            <a:off x="777240" y="1554480"/>
            <a:ext cx="5029200" cy="365760"/>
          </a:xfrm>
          <a:prstGeom prst="rect">
            <a:avLst/>
          </a:prstGeom>
          <a:noFill/>
          <a:ln/>
        </p:spPr>
        <p:txBody>
          <a:bodyPr wrap="square" lIns="0" tIns="0" rIns="0" bIns="0" rtlCol="0" anchor="ctr"/>
          <a:lstStyle/>
          <a:p>
            <a:pPr marL="0" indent="0">
              <a:buNone/>
            </a:pPr>
            <a:r>
              <a:rPr lang="en-US" sz="1500" b="1" kern="0" spc="100" dirty="0">
                <a:solidFill>
                  <a:srgbClr val="1F7A4D"/>
                </a:solidFill>
                <a:latin typeface="Calibri" pitchFamily="34" charset="0"/>
                <a:ea typeface="Calibri" pitchFamily="34" charset="-122"/>
                <a:cs typeface="Calibri" pitchFamily="34" charset="-120"/>
              </a:rPr>
              <a:t>ĐÁNG QUAN TÂM</a:t>
            </a:r>
            <a:endParaRPr lang="en-US" sz="1500" dirty="0"/>
          </a:p>
        </p:txBody>
      </p:sp>
      <p:sp>
        <p:nvSpPr>
          <p:cNvPr id="6" name="Text 4"/>
          <p:cNvSpPr/>
          <p:nvPr/>
        </p:nvSpPr>
        <p:spPr>
          <a:xfrm>
            <a:off x="777240" y="1920240"/>
            <a:ext cx="5029200" cy="320040"/>
          </a:xfrm>
          <a:prstGeom prst="rect">
            <a:avLst/>
          </a:prstGeom>
          <a:noFill/>
          <a:ln/>
        </p:spPr>
        <p:txBody>
          <a:bodyPr wrap="square" lIns="0" tIns="0" rIns="0" bIns="0" rtlCol="0" anchor="ctr"/>
          <a:lstStyle/>
          <a:p>
            <a:pPr marL="0" indent="0">
              <a:buNone/>
            </a:pPr>
            <a:r>
              <a:rPr lang="en-US" sz="1100" i="1" dirty="0">
                <a:solidFill>
                  <a:srgbClr val="6B7785"/>
                </a:solidFill>
                <a:latin typeface="Calibri" pitchFamily="34" charset="0"/>
                <a:ea typeface="Calibri" pitchFamily="34" charset="-122"/>
                <a:cs typeface="Calibri" pitchFamily="34" charset="-120"/>
              </a:rPr>
              <a:t>Rẻ theo lịch sử và có dòng tiền vào</a:t>
            </a:r>
            <a:endParaRPr lang="en-US" sz="1100" dirty="0"/>
          </a:p>
        </p:txBody>
      </p:sp>
      <p:sp>
        <p:nvSpPr>
          <p:cNvPr id="7" name="Text 5"/>
          <p:cNvSpPr/>
          <p:nvPr/>
        </p:nvSpPr>
        <p:spPr>
          <a:xfrm>
            <a:off x="777240" y="2331720"/>
            <a:ext cx="5029200" cy="731520"/>
          </a:xfrm>
          <a:prstGeom prst="rect">
            <a:avLst/>
          </a:prstGeom>
          <a:noFill/>
          <a:ln/>
        </p:spPr>
        <p:txBody>
          <a:bodyPr wrap="square" lIns="0" tIns="0" rIns="0" bIns="0" rtlCol="0" anchor="t"/>
          <a:lstStyle/>
          <a:p>
            <a:pPr marL="0" indent="0">
              <a:lnSpc>
                <a:spcPct val="105000"/>
              </a:lnSpc>
              <a:buNone/>
            </a:pPr>
            <a:r>
              <a:rPr lang="en-US" sz="1150" b="1" dirty="0">
                <a:solidFill>
                  <a:srgbClr val="0B3D6E"/>
                </a:solidFill>
                <a:latin typeface="Calibri" pitchFamily="34" charset="0"/>
                <a:ea typeface="Calibri" pitchFamily="34" charset="-122"/>
                <a:cs typeface="Calibri" pitchFamily="34" charset="-120"/>
              </a:rPr>
              <a:t>Tài chính ngân hàng  </a:t>
            </a:r>
            <a:r>
              <a:rPr lang="en-US" sz="1150" dirty="0">
                <a:solidFill>
                  <a:srgbClr val="1A2733"/>
                </a:solidFill>
                <a:latin typeface="Calibri" pitchFamily="34" charset="0"/>
                <a:ea typeface="Calibri" pitchFamily="34" charset="-122"/>
                <a:cs typeface="Calibri" pitchFamily="34" charset="-120"/>
              </a:rPr>
              <a:t>Cân bằng nhất giữa định giá thấp và an toàn, giữ giá tốt nhất nhóm lớn tuần qua.</a:t>
            </a:r>
            <a:endParaRPr lang="en-US" sz="1150" dirty="0"/>
          </a:p>
        </p:txBody>
      </p:sp>
      <p:sp>
        <p:nvSpPr>
          <p:cNvPr id="8" name="Text 6"/>
          <p:cNvSpPr/>
          <p:nvPr/>
        </p:nvSpPr>
        <p:spPr>
          <a:xfrm>
            <a:off x="777240" y="3108960"/>
            <a:ext cx="5029200" cy="731520"/>
          </a:xfrm>
          <a:prstGeom prst="rect">
            <a:avLst/>
          </a:prstGeom>
          <a:noFill/>
          <a:ln/>
        </p:spPr>
        <p:txBody>
          <a:bodyPr wrap="square" lIns="0" tIns="0" rIns="0" bIns="0" rtlCol="0" anchor="t"/>
          <a:lstStyle/>
          <a:p>
            <a:pPr marL="0" indent="0">
              <a:lnSpc>
                <a:spcPct val="105000"/>
              </a:lnSpc>
              <a:buNone/>
            </a:pPr>
            <a:r>
              <a:rPr lang="en-US" sz="1150" b="1" dirty="0">
                <a:solidFill>
                  <a:srgbClr val="0B3D6E"/>
                </a:solidFill>
                <a:latin typeface="Calibri" pitchFamily="34" charset="0"/>
                <a:ea typeface="Calibri" pitchFamily="34" charset="-122"/>
                <a:cs typeface="Calibri" pitchFamily="34" charset="-120"/>
              </a:rPr>
              <a:t>BĐS nhà ở (loại Vin)  </a:t>
            </a:r>
            <a:r>
              <a:rPr lang="en-US" sz="1150" dirty="0">
                <a:solidFill>
                  <a:srgbClr val="1A2733"/>
                </a:solidFill>
                <a:latin typeface="Calibri" pitchFamily="34" charset="0"/>
                <a:ea typeface="Calibri" pitchFamily="34" charset="-122"/>
                <a:cs typeface="Calibri" pitchFamily="34" charset="-120"/>
              </a:rPr>
              <a:t>Chiết khấu sâu nhất, dưới giá sổ sách, tiền đang quay lại. Chọn mã quỹ đất sạch.</a:t>
            </a:r>
            <a:endParaRPr lang="en-US" sz="1150" dirty="0"/>
          </a:p>
        </p:txBody>
      </p:sp>
      <p:sp>
        <p:nvSpPr>
          <p:cNvPr id="10" name="Text 8"/>
          <p:cNvSpPr/>
          <p:nvPr/>
        </p:nvSpPr>
        <p:spPr>
          <a:xfrm>
            <a:off x="777240" y="3848004"/>
            <a:ext cx="5029200" cy="731520"/>
          </a:xfrm>
          <a:prstGeom prst="rect">
            <a:avLst/>
          </a:prstGeom>
          <a:noFill/>
          <a:ln/>
        </p:spPr>
        <p:txBody>
          <a:bodyPr wrap="square" lIns="0" tIns="0" rIns="0" bIns="0" rtlCol="0" anchor="t"/>
          <a:lstStyle/>
          <a:p>
            <a:pPr marL="0" indent="0">
              <a:lnSpc>
                <a:spcPct val="105000"/>
              </a:lnSpc>
              <a:buNone/>
            </a:pPr>
            <a:r>
              <a:rPr lang="en-US" sz="1150" b="1" dirty="0">
                <a:solidFill>
                  <a:srgbClr val="0B3D6E"/>
                </a:solidFill>
                <a:latin typeface="Calibri" pitchFamily="34" charset="0"/>
                <a:ea typeface="Calibri" pitchFamily="34" charset="-122"/>
                <a:cs typeface="Calibri" pitchFamily="34" charset="-120"/>
              </a:rPr>
              <a:t>BĐS Khu công nghiệp  </a:t>
            </a:r>
            <a:r>
              <a:rPr lang="en-US" sz="1150" dirty="0">
                <a:solidFill>
                  <a:srgbClr val="1A2733"/>
                </a:solidFill>
                <a:latin typeface="Calibri" pitchFamily="34" charset="0"/>
                <a:ea typeface="Calibri" pitchFamily="34" charset="-122"/>
                <a:cs typeface="Calibri" pitchFamily="34" charset="-120"/>
              </a:rPr>
              <a:t>Đáy định giá, tiền vào, đón dòng vốn nước ngoài.</a:t>
            </a:r>
            <a:endParaRPr lang="en-US" sz="1150" dirty="0"/>
          </a:p>
        </p:txBody>
      </p:sp>
      <p:sp>
        <p:nvSpPr>
          <p:cNvPr id="11" name="Shape 9"/>
          <p:cNvSpPr/>
          <p:nvPr/>
        </p:nvSpPr>
        <p:spPr>
          <a:xfrm>
            <a:off x="6309360" y="1417320"/>
            <a:ext cx="5303520" cy="4160520"/>
          </a:xfrm>
          <a:prstGeom prst="roundRect">
            <a:avLst>
              <a:gd name="adj" fmla="val 1319"/>
            </a:avLst>
          </a:prstGeom>
          <a:solidFill>
            <a:srgbClr val="F8DEE5"/>
          </a:solidFill>
          <a:ln/>
        </p:spPr>
        <p:txBody>
          <a:bodyPr/>
          <a:lstStyle/>
          <a:p>
            <a:endParaRPr lang="en-US"/>
          </a:p>
        </p:txBody>
      </p:sp>
      <p:sp>
        <p:nvSpPr>
          <p:cNvPr id="12" name="Text 10"/>
          <p:cNvSpPr/>
          <p:nvPr/>
        </p:nvSpPr>
        <p:spPr>
          <a:xfrm>
            <a:off x="6537960" y="1554480"/>
            <a:ext cx="4846320" cy="365760"/>
          </a:xfrm>
          <a:prstGeom prst="rect">
            <a:avLst/>
          </a:prstGeom>
          <a:noFill/>
          <a:ln/>
        </p:spPr>
        <p:txBody>
          <a:bodyPr wrap="square" lIns="0" tIns="0" rIns="0" bIns="0" rtlCol="0" anchor="ctr"/>
          <a:lstStyle/>
          <a:p>
            <a:pPr marL="0" indent="0">
              <a:buNone/>
            </a:pPr>
            <a:r>
              <a:rPr lang="en-US" sz="1500" b="1" kern="0" spc="100" dirty="0">
                <a:solidFill>
                  <a:srgbClr val="C0143E"/>
                </a:solidFill>
                <a:latin typeface="Calibri" pitchFamily="34" charset="0"/>
                <a:ea typeface="Calibri" pitchFamily="34" charset="-122"/>
                <a:cs typeface="Calibri" pitchFamily="34" charset="-120"/>
              </a:rPr>
              <a:t>CẦN THẬN TRỌNG</a:t>
            </a:r>
            <a:endParaRPr lang="en-US" sz="1500" dirty="0"/>
          </a:p>
        </p:txBody>
      </p:sp>
      <p:sp>
        <p:nvSpPr>
          <p:cNvPr id="13" name="Text 11"/>
          <p:cNvSpPr/>
          <p:nvPr/>
        </p:nvSpPr>
        <p:spPr>
          <a:xfrm>
            <a:off x="6537960" y="1920240"/>
            <a:ext cx="4846320" cy="320040"/>
          </a:xfrm>
          <a:prstGeom prst="rect">
            <a:avLst/>
          </a:prstGeom>
          <a:noFill/>
          <a:ln/>
        </p:spPr>
        <p:txBody>
          <a:bodyPr wrap="square" lIns="0" tIns="0" rIns="0" bIns="0" rtlCol="0" anchor="ctr"/>
          <a:lstStyle/>
          <a:p>
            <a:pPr marL="0" indent="0">
              <a:buNone/>
            </a:pPr>
            <a:r>
              <a:rPr lang="en-US" sz="1100" i="1" dirty="0">
                <a:solidFill>
                  <a:srgbClr val="6B7785"/>
                </a:solidFill>
                <a:latin typeface="Calibri" pitchFamily="34" charset="0"/>
                <a:ea typeface="Calibri" pitchFamily="34" charset="-122"/>
                <a:cs typeface="Calibri" pitchFamily="34" charset="-120"/>
              </a:rPr>
              <a:t>Rẻ nhưng có rủi ro riêng</a:t>
            </a:r>
            <a:endParaRPr lang="en-US" sz="1100" dirty="0"/>
          </a:p>
        </p:txBody>
      </p:sp>
      <p:sp>
        <p:nvSpPr>
          <p:cNvPr id="14" name="Text 12"/>
          <p:cNvSpPr/>
          <p:nvPr/>
        </p:nvSpPr>
        <p:spPr>
          <a:xfrm>
            <a:off x="6537960" y="2331720"/>
            <a:ext cx="4846320" cy="822960"/>
          </a:xfrm>
          <a:prstGeom prst="rect">
            <a:avLst/>
          </a:prstGeom>
          <a:noFill/>
          <a:ln/>
        </p:spPr>
        <p:txBody>
          <a:bodyPr wrap="square" lIns="0" tIns="0" rIns="0" bIns="0" rtlCol="0" anchor="t"/>
          <a:lstStyle/>
          <a:p>
            <a:pPr marL="0" indent="0">
              <a:lnSpc>
                <a:spcPct val="105000"/>
              </a:lnSpc>
              <a:buNone/>
            </a:pPr>
            <a:r>
              <a:rPr lang="en-US" sz="1150" b="1" dirty="0">
                <a:solidFill>
                  <a:srgbClr val="0B3D6E"/>
                </a:solidFill>
                <a:latin typeface="Calibri" pitchFamily="34" charset="0"/>
                <a:ea typeface="Calibri" pitchFamily="34" charset="-122"/>
                <a:cs typeface="Calibri" pitchFamily="34" charset="-120"/>
              </a:rPr>
              <a:t>Dệt may · Thủy sản  </a:t>
            </a:r>
            <a:r>
              <a:rPr lang="en-US" sz="1150" dirty="0">
                <a:solidFill>
                  <a:srgbClr val="1A2733"/>
                </a:solidFill>
                <a:latin typeface="Calibri" pitchFamily="34" charset="0"/>
                <a:ea typeface="Calibri" pitchFamily="34" charset="-122"/>
                <a:cs typeface="Calibri" pitchFamily="34" charset="-120"/>
              </a:rPr>
              <a:t>Rẻ nhưng bị bán tháo, chưa vào cho tới khi dòng tiền ổn định.</a:t>
            </a:r>
            <a:endParaRPr lang="en-US" sz="1150" dirty="0"/>
          </a:p>
        </p:txBody>
      </p:sp>
      <p:sp>
        <p:nvSpPr>
          <p:cNvPr id="15" name="Text 13"/>
          <p:cNvSpPr/>
          <p:nvPr/>
        </p:nvSpPr>
        <p:spPr>
          <a:xfrm>
            <a:off x="6537960" y="3246120"/>
            <a:ext cx="4846320" cy="822960"/>
          </a:xfrm>
          <a:prstGeom prst="rect">
            <a:avLst/>
          </a:prstGeom>
          <a:noFill/>
          <a:ln/>
        </p:spPr>
        <p:txBody>
          <a:bodyPr wrap="square" lIns="0" tIns="0" rIns="0" bIns="0" rtlCol="0" anchor="t"/>
          <a:lstStyle/>
          <a:p>
            <a:pPr marL="0" indent="0">
              <a:lnSpc>
                <a:spcPct val="105000"/>
              </a:lnSpc>
              <a:buNone/>
            </a:pPr>
            <a:r>
              <a:rPr lang="en-US" sz="1150" b="1" dirty="0">
                <a:solidFill>
                  <a:srgbClr val="0B3D6E"/>
                </a:solidFill>
                <a:latin typeface="Calibri" pitchFamily="34" charset="0"/>
                <a:ea typeface="Calibri" pitchFamily="34" charset="-122"/>
                <a:cs typeface="Calibri" pitchFamily="34" charset="-120"/>
              </a:rPr>
              <a:t>Kim loại · Hóa chất  </a:t>
            </a:r>
            <a:r>
              <a:rPr lang="en-US" sz="1150" dirty="0">
                <a:solidFill>
                  <a:srgbClr val="1A2733"/>
                </a:solidFill>
                <a:latin typeface="Calibri" pitchFamily="34" charset="0"/>
                <a:ea typeface="Calibri" pitchFamily="34" charset="-122"/>
                <a:cs typeface="Calibri" pitchFamily="34" charset="-120"/>
              </a:rPr>
              <a:t>Rẻ nhưng là hàng chu kỳ, P/E thấp có thể là đỉnh lợi nhuận. Đọc theo P/B.</a:t>
            </a:r>
            <a:endParaRPr lang="en-US" sz="1150" dirty="0"/>
          </a:p>
        </p:txBody>
      </p:sp>
      <p:sp>
        <p:nvSpPr>
          <p:cNvPr id="16" name="Text 14"/>
          <p:cNvSpPr/>
          <p:nvPr/>
        </p:nvSpPr>
        <p:spPr>
          <a:xfrm>
            <a:off x="6537960" y="4160520"/>
            <a:ext cx="4846320" cy="822960"/>
          </a:xfrm>
          <a:prstGeom prst="rect">
            <a:avLst/>
          </a:prstGeom>
          <a:noFill/>
          <a:ln/>
        </p:spPr>
        <p:txBody>
          <a:bodyPr wrap="square" lIns="0" tIns="0" rIns="0" bIns="0" rtlCol="0" anchor="t"/>
          <a:lstStyle/>
          <a:p>
            <a:pPr marL="0" indent="0">
              <a:lnSpc>
                <a:spcPct val="105000"/>
              </a:lnSpc>
              <a:buNone/>
            </a:pPr>
            <a:r>
              <a:rPr lang="en-US" sz="1150" b="1" dirty="0">
                <a:solidFill>
                  <a:srgbClr val="0B3D6E"/>
                </a:solidFill>
                <a:latin typeface="Calibri" pitchFamily="34" charset="0"/>
                <a:ea typeface="Calibri" pitchFamily="34" charset="-122"/>
                <a:cs typeface="Calibri" pitchFamily="34" charset="-120"/>
              </a:rPr>
              <a:t>Tài nguyên · Dầu khí  </a:t>
            </a:r>
            <a:r>
              <a:rPr lang="en-US" sz="1150" dirty="0">
                <a:solidFill>
                  <a:srgbClr val="1A2733"/>
                </a:solidFill>
                <a:latin typeface="Calibri" pitchFamily="34" charset="0"/>
                <a:ea typeface="Calibri" pitchFamily="34" charset="-122"/>
                <a:cs typeface="Calibri" pitchFamily="34" charset="-120"/>
              </a:rPr>
              <a:t>Đã ở vùng đắt, không nên đuổi giá dù tiền đang vào.</a:t>
            </a:r>
            <a:endParaRPr lang="en-US" sz="1150" dirty="0"/>
          </a:p>
        </p:txBody>
      </p:sp>
      <p:sp>
        <p:nvSpPr>
          <p:cNvPr id="17" name="Text 1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VBSE  ·  Lưu hành nội bộ</a:t>
            </a:r>
            <a:endParaRPr lang="en-US" sz="900" dirty="0"/>
          </a:p>
        </p:txBody>
      </p:sp>
      <p:sp>
        <p:nvSpPr>
          <p:cNvPr id="18" name="Text 16"/>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2207</Words>
  <Application>Microsoft Office PowerPoint</Application>
  <PresentationFormat>Widescreen</PresentationFormat>
  <Paragraphs>436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VBSE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VBSE</dc:creator>
  <cp:lastModifiedBy>Tuấn Bùi</cp:lastModifiedBy>
  <cp:revision>3</cp:revision>
  <dcterms:created xsi:type="dcterms:W3CDTF">2026-07-19T10:18:05Z</dcterms:created>
  <dcterms:modified xsi:type="dcterms:W3CDTF">2026-07-20T04:03:55Z</dcterms:modified>
</cp:coreProperties>
</file>